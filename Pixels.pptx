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66" r:id="rId5"/>
    <p:sldId id="267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4630400" cy="8229600"/>
  <p:notesSz cx="8229600" cy="14630400"/>
  <p:embeddedFontLst>
    <p:embeddedFont>
      <p:font typeface="Wingdings 3" panose="05040102010807070707" pitchFamily="18" charset="2"/>
      <p:regular r:id="rId15"/>
    </p:embeddedFont>
    <p:embeddedFont>
      <p:font typeface="Bahnschrift" panose="020B0502040204020203" pitchFamily="34" charset="0"/>
      <p:regular r:id="rId16"/>
      <p:bold r:id="rId17"/>
    </p:embeddedFont>
    <p:embeddedFont>
      <p:font typeface="Consolas" panose="020B0609020204030204" pitchFamily="49" charset="0"/>
      <p:regular r:id="rId18"/>
      <p:bold r:id="rId19"/>
      <p:italic r:id="rId20"/>
      <p:boldItalic r:id="rId21"/>
    </p:embeddedFont>
    <p:embeddedFont>
      <p:font typeface="Calibri" panose="020F0502020204030204" pitchFamily="34" charset="0"/>
      <p:regular r:id="rId22"/>
      <p:bold r:id="rId23"/>
      <p:italic r:id="rId24"/>
      <p:boldItalic r:id="rId25"/>
    </p:embeddedFont>
    <p:embeddedFont>
      <p:font typeface="IBM Plex Sans Light" panose="020B0604020202020204" charset="0"/>
      <p:regular r:id="rId26"/>
      <p:italic r:id="rId27"/>
    </p:embeddedFont>
    <p:embeddedFont>
      <p:font typeface="IBM Plex Sans Medium" panose="020B0604020202020204" charset="0"/>
      <p:regular r:id="rId28"/>
      <p:italic r:id="rId29"/>
    </p:embeddedFont>
    <p:embeddedFont>
      <p:font typeface="Roboto" panose="020B0604020202020204" charset="0"/>
      <p:regular r:id="rId30"/>
      <p:bold r:id="rId31"/>
      <p:italic r:id="rId32"/>
      <p:boldItalic r:id="rId33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4608">
          <p15:clr>
            <a:srgbClr val="A4A3A4"/>
          </p15:clr>
        </p15:guide>
        <p15:guide id="2" orient="horz" pos="259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E1E4"/>
    <a:srgbClr val="847F84"/>
    <a:srgbClr val="D2CB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35E85B4-9BD9-48CF-82DC-138DE78B7F14}" v="12" dt="2026-01-31T17:47:40.005"/>
    <p1510:client id="{949E5214-F716-458F-B181-FEA170A16C11}" v="210" dt="2026-01-31T17:43:35.510"/>
    <p1510:client id="{B5F40E67-4598-4285-B9E0-0F2A56892A56}" v="25" dt="2026-01-31T17:45:23.47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6" d="100"/>
          <a:sy n="56" d="100"/>
        </p:scale>
        <p:origin x="768" y="66"/>
      </p:cViewPr>
      <p:guideLst>
        <p:guide pos="4608"/>
        <p:guide orient="horz" pos="259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font" Target="fonts/font12.fntdata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font" Target="fonts/font11.fntdata"/><Relationship Id="rId33" Type="http://schemas.openxmlformats.org/officeDocument/2006/relationships/font" Target="fonts/font19.fntdata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font" Target="fonts/font1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0.fntdata"/><Relationship Id="rId32" Type="http://schemas.openxmlformats.org/officeDocument/2006/relationships/font" Target="fonts/font18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font" Target="fonts/font14.fntdata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31" Type="http://schemas.openxmlformats.org/officeDocument/2006/relationships/font" Target="fonts/font1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font" Target="fonts/font13.fntdata"/><Relationship Id="rId30" Type="http://schemas.openxmlformats.org/officeDocument/2006/relationships/font" Target="fonts/font16.fntdata"/><Relationship Id="rId35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970443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27560314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5282F153-3F37-0F45-9E97-73ACFA13230C}" type="datetimeFigureOut">
              <a:rPr lang="en-US"/>
              <a:t>2/25/2026</a:t>
            </a:fld>
            <a:endParaRPr lang="en-US"/>
          </a:p>
        </p:txBody>
      </p:sp>
      <p:sp>
        <p:nvSpPr>
          <p:cNvPr id="335944446" name="Slide Image Placeholder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204860048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211430829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44274225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8026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622794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5883337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405449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5915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880915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3094485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606181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83494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852143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901015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572343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2983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31C2CA7-5EF6-B722-B52C-CF507248DA71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8521434" name="Slide Image Placeholder 1">
            <a:extLst>
              <a:ext uri="{FF2B5EF4-FFF2-40B4-BE49-F238E27FC236}">
                <a16:creationId xmlns:a16="http://schemas.microsoft.com/office/drawing/2014/main" xmlns="" id="{B5191E80-6DD9-41BA-AB28-706A44F1E6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90101599" name="Notes Placeholder 2">
            <a:extLst>
              <a:ext uri="{FF2B5EF4-FFF2-40B4-BE49-F238E27FC236}">
                <a16:creationId xmlns:a16="http://schemas.microsoft.com/office/drawing/2014/main" xmlns="" id="{9564F542-3F7B-600C-F051-BD145768864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57234395" name="Slide Number Placeholder 3">
            <a:extLst>
              <a:ext uri="{FF2B5EF4-FFF2-40B4-BE49-F238E27FC236}">
                <a16:creationId xmlns:a16="http://schemas.microsoft.com/office/drawing/2014/main" xmlns="" id="{4C220B32-0D4C-BC8E-F38F-466BAB4C8F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310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31C2CA7-5EF6-B722-B52C-CF507248DA71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8521434" name="Slide Image Placeholder 1">
            <a:extLst>
              <a:ext uri="{FF2B5EF4-FFF2-40B4-BE49-F238E27FC236}">
                <a16:creationId xmlns:a16="http://schemas.microsoft.com/office/drawing/2014/main" xmlns="" id="{B5191E80-6DD9-41BA-AB28-706A44F1E6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90101599" name="Notes Placeholder 2">
            <a:extLst>
              <a:ext uri="{FF2B5EF4-FFF2-40B4-BE49-F238E27FC236}">
                <a16:creationId xmlns:a16="http://schemas.microsoft.com/office/drawing/2014/main" xmlns="" id="{9564F542-3F7B-600C-F051-BD145768864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57234395" name="Slide Number Placeholder 3">
            <a:extLst>
              <a:ext uri="{FF2B5EF4-FFF2-40B4-BE49-F238E27FC236}">
                <a16:creationId xmlns:a16="http://schemas.microsoft.com/office/drawing/2014/main" xmlns="" id="{4C220B32-0D4C-BC8E-F38F-466BAB4C8F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2817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6869439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8696601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930027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1387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9073818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9907853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581383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70072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771538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4894820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399918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95133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7022375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3925752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607904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90635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7158865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9836449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770445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2201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049927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4113028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273993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71170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102517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7621072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208530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51F95B-00B0-9378-C025-ECCDB0EB8C91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8850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Slide 1 mast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983149" name="Shape 0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22242A"/>
          </a:solidFill>
          <a:ln/>
        </p:spPr>
      </p:sp>
      <p:sp>
        <p:nvSpPr>
          <p:cNvPr id="334466819" name="Shape 1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292C32"/>
          </a:solidFill>
          <a:ln/>
        </p:spPr>
      </p:sp>
      <p:pic>
        <p:nvPicPr>
          <p:cNvPr id="1229097491" name="Image 0" descr="preencoded.png">
            <a:hlinkClick r:id="rId2"/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839214" y="7749539"/>
            <a:ext cx="1722604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Slide 2 mast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6505917" name="Shape 0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22242A"/>
          </a:solidFill>
          <a:ln/>
        </p:spPr>
      </p:sp>
      <p:sp>
        <p:nvSpPr>
          <p:cNvPr id="2001108197" name="Shape 1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292C32"/>
          </a:solidFill>
          <a:ln/>
        </p:spPr>
      </p:sp>
      <p:pic>
        <p:nvPicPr>
          <p:cNvPr id="946022007" name="Image 0" descr="preencoded.png">
            <a:hlinkClick r:id="rId2"/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839214" y="7749539"/>
            <a:ext cx="1722604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Slide 3 mast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2430545" name="Shape 0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22242A"/>
          </a:solidFill>
          <a:ln/>
        </p:spPr>
      </p:sp>
      <p:sp>
        <p:nvSpPr>
          <p:cNvPr id="575189450" name="Shape 1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292C32"/>
          </a:solidFill>
          <a:ln/>
        </p:spPr>
      </p:sp>
      <p:pic>
        <p:nvPicPr>
          <p:cNvPr id="808878570" name="Image 0" descr="preencoded.png">
            <a:hlinkClick r:id="rId2"/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839214" y="7749539"/>
            <a:ext cx="1722604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Slide 4 mast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8554399" name="Shape 0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22242A"/>
          </a:solidFill>
          <a:ln/>
        </p:spPr>
      </p:sp>
      <p:sp>
        <p:nvSpPr>
          <p:cNvPr id="2100150172" name="Shape 1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292C32"/>
          </a:solidFill>
          <a:ln/>
        </p:spPr>
      </p:sp>
      <p:pic>
        <p:nvPicPr>
          <p:cNvPr id="1959191267" name="Image 0" descr="preencoded.png">
            <a:hlinkClick r:id="rId2"/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839214" y="7749539"/>
            <a:ext cx="1722604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Slide 5 mast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4711319" name="Shape 0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22242A"/>
          </a:solidFill>
          <a:ln/>
        </p:spPr>
      </p:sp>
      <p:sp>
        <p:nvSpPr>
          <p:cNvPr id="1164448383" name="Shape 1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292C32"/>
          </a:solidFill>
          <a:ln/>
        </p:spPr>
      </p:sp>
      <p:pic>
        <p:nvPicPr>
          <p:cNvPr id="876445039" name="Image 0" descr="preencoded.png">
            <a:hlinkClick r:id="rId2"/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839214" y="7749539"/>
            <a:ext cx="1722604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Slide 6 mast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3746912" name="Shape 0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22242A"/>
          </a:solidFill>
          <a:ln/>
        </p:spPr>
      </p:sp>
      <p:sp>
        <p:nvSpPr>
          <p:cNvPr id="162944801" name="Shape 1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292C32"/>
          </a:solidFill>
          <a:ln/>
        </p:spPr>
      </p:sp>
      <p:pic>
        <p:nvPicPr>
          <p:cNvPr id="1947315523" name="Image 0" descr="preencoded.png">
            <a:hlinkClick r:id="rId2"/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839214" y="7749539"/>
            <a:ext cx="1722604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Slide 7 mast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0435670" name="Shape 0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22242A"/>
          </a:solidFill>
          <a:ln/>
        </p:spPr>
      </p:sp>
      <p:sp>
        <p:nvSpPr>
          <p:cNvPr id="75780813" name="Shape 1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292C32"/>
          </a:solidFill>
          <a:ln/>
        </p:spPr>
      </p:sp>
      <p:pic>
        <p:nvPicPr>
          <p:cNvPr id="287620402" name="Image 0" descr="preencoded.png">
            <a:hlinkClick r:id="rId2"/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839214" y="7749539"/>
            <a:ext cx="1722604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Slide 8 mast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131800" name="Shape 0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22242A"/>
          </a:solidFill>
          <a:ln/>
        </p:spPr>
      </p:sp>
      <p:sp>
        <p:nvSpPr>
          <p:cNvPr id="34807610" name="Shape 1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292C32"/>
          </a:solidFill>
          <a:ln/>
        </p:spPr>
      </p:sp>
      <p:pic>
        <p:nvPicPr>
          <p:cNvPr id="717018877" name="Image 0" descr="preencoded.png">
            <a:hlinkClick r:id="rId2"/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839214" y="7749539"/>
            <a:ext cx="1722604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Slide 9 mast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8687204" name="Shape 0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22242A"/>
          </a:solidFill>
          <a:ln/>
        </p:spPr>
      </p:sp>
      <p:sp>
        <p:nvSpPr>
          <p:cNvPr id="905390951" name="Shape 1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292C32"/>
          </a:solidFill>
          <a:ln/>
        </p:spPr>
      </p:sp>
      <p:pic>
        <p:nvPicPr>
          <p:cNvPr id="1555348736" name="Image 0" descr="preencoded.png">
            <a:hlinkClick r:id="rId2"/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839214" y="7749539"/>
            <a:ext cx="1722604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svg"/><Relationship Id="rId11" Type="http://schemas.openxmlformats.org/officeDocument/2006/relationships/image" Target="../media/image2.png"/><Relationship Id="rId5" Type="http://schemas.openxmlformats.org/officeDocument/2006/relationships/image" Target="../media/image8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12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9.svg"/><Relationship Id="rId5" Type="http://schemas.openxmlformats.org/officeDocument/2006/relationships/image" Target="../media/image13.png"/><Relationship Id="rId4" Type="http://schemas.openxmlformats.org/officeDocument/2006/relationships/image" Target="../media/image17.svg"/><Relationship Id="rId9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orsany/Pixels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8904068" name="Text 0"/>
          <p:cNvSpPr/>
          <p:nvPr/>
        </p:nvSpPr>
        <p:spPr bwMode="auto">
          <a:xfrm>
            <a:off x="793790" y="3186351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  <a:defRPr/>
            </a:pPr>
            <a:r>
              <a:rPr lang="en-US" sz="4450">
                <a:solidFill>
                  <a:srgbClr val="F3F3F2"/>
                </a:solidFill>
                <a:latin typeface="IBM Plex Sans Medium"/>
                <a:ea typeface="IBM Plex Sans Medium"/>
                <a:cs typeface="IBM Plex Sans Medium"/>
              </a:rPr>
              <a:t>Pixels</a:t>
            </a:r>
            <a:endParaRPr lang="en-US" sz="4450"/>
          </a:p>
        </p:txBody>
      </p:sp>
      <p:sp>
        <p:nvSpPr>
          <p:cNvPr id="1817732809" name="Text 1"/>
          <p:cNvSpPr/>
          <p:nvPr/>
        </p:nvSpPr>
        <p:spPr bwMode="auto">
          <a:xfrm>
            <a:off x="793790" y="3985855"/>
            <a:ext cx="596836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  <a:defRPr/>
            </a:pPr>
            <a:r>
              <a:rPr lang="en-US" sz="2200" dirty="0" err="1">
                <a:solidFill>
                  <a:srgbClr val="F3F3F2"/>
                </a:solidFill>
                <a:latin typeface="IBM Plex Sans Medium"/>
                <a:ea typeface="IBM Plex Sans Medium"/>
                <a:cs typeface="IBM Plex Sans Medium"/>
              </a:rPr>
              <a:t>Генератор</a:t>
            </a:r>
            <a:r>
              <a:rPr lang="en-US" sz="2200" dirty="0">
                <a:solidFill>
                  <a:srgbClr val="F3F3F2"/>
                </a:solidFill>
                <a:latin typeface="IBM Plex Sans Medium"/>
                <a:ea typeface="IBM Plex Sans Medium"/>
                <a:cs typeface="IBM Plex Sans Medium"/>
              </a:rPr>
              <a:t> CSS-</a:t>
            </a:r>
            <a:r>
              <a:rPr lang="en-US" sz="2200" dirty="0" err="1">
                <a:solidFill>
                  <a:srgbClr val="F3F3F2"/>
                </a:solidFill>
                <a:latin typeface="IBM Plex Sans Medium"/>
                <a:ea typeface="IBM Plex Sans Medium"/>
                <a:cs typeface="IBM Plex Sans Medium"/>
              </a:rPr>
              <a:t>арта</a:t>
            </a:r>
            <a:r>
              <a:rPr lang="en-US" sz="2200" dirty="0">
                <a:solidFill>
                  <a:srgbClr val="F3F3F2"/>
                </a:solidFill>
                <a:latin typeface="IBM Plex Sans Medium"/>
                <a:ea typeface="IBM Plex Sans Medium"/>
                <a:cs typeface="IBM Plex Sans Medium"/>
              </a:rPr>
              <a:t> </a:t>
            </a:r>
            <a:r>
              <a:rPr lang="en-US" sz="2200" dirty="0" err="1">
                <a:solidFill>
                  <a:srgbClr val="F3F3F2"/>
                </a:solidFill>
                <a:latin typeface="IBM Plex Sans Medium"/>
                <a:ea typeface="IBM Plex Sans Medium"/>
                <a:cs typeface="IBM Plex Sans Medium"/>
              </a:rPr>
              <a:t>для</a:t>
            </a:r>
            <a:r>
              <a:rPr lang="en-US" sz="2200" dirty="0">
                <a:solidFill>
                  <a:srgbClr val="F3F3F2"/>
                </a:solidFill>
                <a:latin typeface="IBM Plex Sans Medium"/>
                <a:ea typeface="IBM Plex Sans Medium"/>
                <a:cs typeface="IBM Plex Sans Medium"/>
              </a:rPr>
              <a:t> </a:t>
            </a:r>
            <a:r>
              <a:rPr lang="en-US" sz="2200" dirty="0" err="1">
                <a:solidFill>
                  <a:srgbClr val="F3F3F2"/>
                </a:solidFill>
                <a:latin typeface="IBM Plex Sans Medium"/>
                <a:ea typeface="IBM Plex Sans Medium"/>
                <a:cs typeface="IBM Plex Sans Medium"/>
              </a:rPr>
              <a:t>веб-разработчиков</a:t>
            </a:r>
            <a:endParaRPr lang="en-US" sz="2200" dirty="0"/>
          </a:p>
        </p:txBody>
      </p:sp>
      <p:sp>
        <p:nvSpPr>
          <p:cNvPr id="354296680" name="Text 2"/>
          <p:cNvSpPr/>
          <p:nvPr/>
        </p:nvSpPr>
        <p:spPr bwMode="auto">
          <a:xfrm>
            <a:off x="793790" y="4680347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 dirty="0" err="1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Легкий</a:t>
            </a:r>
            <a:r>
              <a:rPr lang="en-US" sz="1750" dirty="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 </a:t>
            </a:r>
            <a:r>
              <a:rPr lang="en-US" sz="1750" dirty="0" err="1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инструмент</a:t>
            </a:r>
            <a:r>
              <a:rPr lang="en-US" sz="1750" dirty="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 </a:t>
            </a:r>
            <a:r>
              <a:rPr lang="en-US" sz="1750" dirty="0" err="1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для</a:t>
            </a:r>
            <a:r>
              <a:rPr lang="en-US" sz="1750" dirty="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 </a:t>
            </a:r>
            <a:r>
              <a:rPr lang="en-US" sz="1750" dirty="0" err="1">
                <a:solidFill>
                  <a:srgbClr val="D4D4D1"/>
                </a:solidFill>
                <a:latin typeface="Roboto"/>
                <a:ea typeface="Roboto"/>
                <a:cs typeface="Roboto"/>
              </a:rPr>
              <a:t>создания</a:t>
            </a:r>
            <a:r>
              <a:rPr lang="en-US" sz="1750" dirty="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 </a:t>
            </a:r>
            <a:r>
              <a:rPr lang="en-US" sz="1750" dirty="0" err="1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пиксельной</a:t>
            </a:r>
            <a:r>
              <a:rPr lang="en-US" sz="1750" dirty="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 </a:t>
            </a:r>
            <a:r>
              <a:rPr lang="en-US" sz="1750" dirty="0" err="1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графики</a:t>
            </a:r>
            <a:r>
              <a:rPr lang="en-US" sz="1750" dirty="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 </a:t>
            </a:r>
            <a:r>
              <a:rPr lang="en-US" sz="1750" dirty="0" err="1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на</a:t>
            </a:r>
            <a:r>
              <a:rPr lang="en-US" sz="1750" dirty="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 </a:t>
            </a:r>
            <a:r>
              <a:rPr lang="en-US" sz="1750" dirty="0" err="1">
                <a:solidFill>
                  <a:srgbClr val="D4D4D1"/>
                </a:solidFill>
                <a:latin typeface="Roboto"/>
                <a:ea typeface="Roboto"/>
                <a:cs typeface="Roboto"/>
              </a:rPr>
              <a:t>чистом</a:t>
            </a:r>
            <a:r>
              <a:rPr lang="en-US" sz="1750" dirty="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 JavaScript с </a:t>
            </a:r>
            <a:r>
              <a:rPr lang="en-US" sz="1750" dirty="0" err="1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векторной</a:t>
            </a:r>
            <a:r>
              <a:rPr lang="en-US" sz="1750" dirty="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 </a:t>
            </a:r>
            <a:r>
              <a:rPr lang="en-US" sz="1750" dirty="0" err="1">
                <a:solidFill>
                  <a:srgbClr val="D4D4D1"/>
                </a:solidFill>
                <a:latin typeface="Roboto"/>
                <a:ea typeface="Roboto"/>
                <a:cs typeface="Roboto"/>
              </a:rPr>
              <a:t>точностью</a:t>
            </a:r>
            <a:endParaRPr lang="en-US" sz="1750" dirty="0"/>
          </a:p>
        </p:txBody>
      </p:sp>
      <p:pic>
        <p:nvPicPr>
          <p:cNvPr id="394231213" name="Рисунок 394231212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314464" y="7551964"/>
            <a:ext cx="2228850" cy="657225"/>
          </a:xfrm>
          <a:prstGeom prst="rect">
            <a:avLst/>
          </a:prstGeom>
        </p:spPr>
      </p:pic>
      <p:sp>
        <p:nvSpPr>
          <p:cNvPr id="6" name="Подзаголовок 2"/>
          <p:cNvSpPr txBox="1">
            <a:spLocks/>
          </p:cNvSpPr>
          <p:nvPr/>
        </p:nvSpPr>
        <p:spPr>
          <a:xfrm>
            <a:off x="793790" y="6455065"/>
            <a:ext cx="7766936" cy="10968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Автор: Сарычев Семён</a:t>
            </a:r>
          </a:p>
          <a:p>
            <a:pPr algn="l"/>
            <a:r>
              <a:rPr 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Тольяттинский филиал ГБОУ ДО СО СОЦДЮТТ</a:t>
            </a:r>
            <a:endParaRPr lang="ru-RU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0183929" name="Shape 0"/>
          <p:cNvSpPr/>
          <p:nvPr/>
        </p:nvSpPr>
        <p:spPr bwMode="auto">
          <a:xfrm>
            <a:off x="793790" y="2133957"/>
            <a:ext cx="1264682" cy="426244"/>
          </a:xfrm>
          <a:prstGeom prst="roundRect">
            <a:avLst>
              <a:gd name="adj" fmla="val 6386"/>
            </a:avLst>
          </a:prstGeom>
          <a:solidFill>
            <a:srgbClr val="4D1F00"/>
          </a:solidFill>
          <a:ln/>
        </p:spPr>
      </p:sp>
      <p:sp>
        <p:nvSpPr>
          <p:cNvPr id="1905681914" name="Text 1"/>
          <p:cNvSpPr/>
          <p:nvPr/>
        </p:nvSpPr>
        <p:spPr bwMode="auto">
          <a:xfrm>
            <a:off x="929878" y="2201942"/>
            <a:ext cx="992505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  <a:defRPr/>
            </a:pPr>
            <a:r>
              <a:rPr lang="en-US" sz="140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ПРОБЛЕМА</a:t>
            </a:r>
            <a:endParaRPr lang="en-US" sz="1400"/>
          </a:p>
        </p:txBody>
      </p:sp>
      <p:sp>
        <p:nvSpPr>
          <p:cNvPr id="2138261279" name="Text 2"/>
          <p:cNvSpPr/>
          <p:nvPr/>
        </p:nvSpPr>
        <p:spPr bwMode="auto">
          <a:xfrm>
            <a:off x="793790" y="2650927"/>
            <a:ext cx="12158782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  <a:defRPr/>
            </a:pPr>
            <a:r>
              <a:rPr lang="en-US" sz="4450">
                <a:solidFill>
                  <a:srgbClr val="F3F3F2"/>
                </a:solidFill>
                <a:latin typeface="IBM Plex Sans Medium"/>
                <a:ea typeface="IBM Plex Sans Medium"/>
                <a:cs typeface="IBM Plex Sans Medium"/>
              </a:rPr>
              <a:t>Традиционные изображения замедляют веб</a:t>
            </a:r>
            <a:endParaRPr lang="en-US" sz="4450"/>
          </a:p>
        </p:txBody>
      </p:sp>
      <p:sp>
        <p:nvSpPr>
          <p:cNvPr id="1556004746" name="Shape 3"/>
          <p:cNvSpPr/>
          <p:nvPr/>
        </p:nvSpPr>
        <p:spPr bwMode="auto">
          <a:xfrm>
            <a:off x="793790" y="3699867"/>
            <a:ext cx="4196358" cy="2395657"/>
          </a:xfrm>
          <a:prstGeom prst="roundRect">
            <a:avLst>
              <a:gd name="adj" fmla="val 1420"/>
            </a:avLst>
          </a:prstGeom>
          <a:solidFill>
            <a:srgbClr val="484B51"/>
          </a:solidFill>
          <a:ln/>
        </p:spPr>
      </p:sp>
      <p:sp>
        <p:nvSpPr>
          <p:cNvPr id="1001110792" name="Text 4"/>
          <p:cNvSpPr/>
          <p:nvPr/>
        </p:nvSpPr>
        <p:spPr bwMode="auto">
          <a:xfrm>
            <a:off x="1020604" y="3926681"/>
            <a:ext cx="2843927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  <a:defRPr/>
            </a:pPr>
            <a:r>
              <a:rPr lang="en-US" sz="2200">
                <a:solidFill>
                  <a:srgbClr val="D4D4D1"/>
                </a:solidFill>
                <a:latin typeface="IBM Plex Sans Medium"/>
                <a:ea typeface="IBM Plex Sans Medium"/>
                <a:cs typeface="IBM Plex Sans Medium"/>
              </a:rPr>
              <a:t>Большой вес файлов</a:t>
            </a:r>
            <a:endParaRPr lang="en-US" sz="2200"/>
          </a:p>
        </p:txBody>
      </p:sp>
      <p:sp>
        <p:nvSpPr>
          <p:cNvPr id="389815193" name="Text 5"/>
          <p:cNvSpPr/>
          <p:nvPr/>
        </p:nvSpPr>
        <p:spPr bwMode="auto">
          <a:xfrm>
            <a:off x="1020604" y="4417100"/>
            <a:ext cx="374273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Растровые форматы PNG и JPG занимают килобайты даже для простых иконок, увеличивая время загрузки страницы</a:t>
            </a:r>
            <a:endParaRPr lang="en-US" sz="1750"/>
          </a:p>
        </p:txBody>
      </p:sp>
      <p:sp>
        <p:nvSpPr>
          <p:cNvPr id="1454626358" name="Shape 6"/>
          <p:cNvSpPr/>
          <p:nvPr/>
        </p:nvSpPr>
        <p:spPr bwMode="auto">
          <a:xfrm>
            <a:off x="5216962" y="3699867"/>
            <a:ext cx="4196358" cy="2395657"/>
          </a:xfrm>
          <a:prstGeom prst="roundRect">
            <a:avLst>
              <a:gd name="adj" fmla="val 1420"/>
            </a:avLst>
          </a:prstGeom>
          <a:solidFill>
            <a:srgbClr val="484B51"/>
          </a:solidFill>
          <a:ln/>
        </p:spPr>
      </p:sp>
      <p:sp>
        <p:nvSpPr>
          <p:cNvPr id="47627338" name="Text 7"/>
          <p:cNvSpPr/>
          <p:nvPr/>
        </p:nvSpPr>
        <p:spPr bwMode="auto">
          <a:xfrm>
            <a:off x="5443776" y="392668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  <a:defRPr/>
            </a:pPr>
            <a:r>
              <a:rPr lang="en-US" sz="2200">
                <a:solidFill>
                  <a:srgbClr val="D4D4D1"/>
                </a:solidFill>
                <a:latin typeface="IBM Plex Sans Medium"/>
                <a:ea typeface="IBM Plex Sans Medium"/>
                <a:cs typeface="IBM Plex Sans Medium"/>
              </a:rPr>
              <a:t>Потеря качества</a:t>
            </a:r>
            <a:endParaRPr lang="en-US" sz="2200"/>
          </a:p>
        </p:txBody>
      </p:sp>
      <p:sp>
        <p:nvSpPr>
          <p:cNvPr id="15064894" name="Text 8"/>
          <p:cNvSpPr/>
          <p:nvPr/>
        </p:nvSpPr>
        <p:spPr bwMode="auto">
          <a:xfrm>
            <a:off x="5443776" y="4417100"/>
            <a:ext cx="374273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При масштабировании пиксельные изображения становятся размытыми, теряя четкость на Retina-дисплеях</a:t>
            </a:r>
            <a:endParaRPr lang="en-US" sz="1750"/>
          </a:p>
        </p:txBody>
      </p:sp>
      <p:sp>
        <p:nvSpPr>
          <p:cNvPr id="640772576" name="Shape 9"/>
          <p:cNvSpPr/>
          <p:nvPr/>
        </p:nvSpPr>
        <p:spPr bwMode="auto">
          <a:xfrm>
            <a:off x="9640133" y="3699867"/>
            <a:ext cx="4196358" cy="2395657"/>
          </a:xfrm>
          <a:prstGeom prst="roundRect">
            <a:avLst>
              <a:gd name="adj" fmla="val 1420"/>
            </a:avLst>
          </a:prstGeom>
          <a:solidFill>
            <a:srgbClr val="484B51"/>
          </a:solidFill>
          <a:ln/>
        </p:spPr>
      </p:sp>
      <p:sp>
        <p:nvSpPr>
          <p:cNvPr id="2123927447" name="Text 10"/>
          <p:cNvSpPr/>
          <p:nvPr/>
        </p:nvSpPr>
        <p:spPr bwMode="auto">
          <a:xfrm>
            <a:off x="9866948" y="392668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  <a:defRPr/>
            </a:pPr>
            <a:r>
              <a:rPr lang="en-US" sz="2200">
                <a:solidFill>
                  <a:srgbClr val="D4D4D1"/>
                </a:solidFill>
                <a:latin typeface="IBM Plex Sans Medium"/>
                <a:ea typeface="IBM Plex Sans Medium"/>
                <a:cs typeface="IBM Plex Sans Medium"/>
              </a:rPr>
              <a:t>HTTP-запросы</a:t>
            </a:r>
            <a:endParaRPr lang="en-US" sz="2200"/>
          </a:p>
        </p:txBody>
      </p:sp>
      <p:sp>
        <p:nvSpPr>
          <p:cNvPr id="789806464" name="Text 11"/>
          <p:cNvSpPr/>
          <p:nvPr/>
        </p:nvSpPr>
        <p:spPr bwMode="auto">
          <a:xfrm>
            <a:off x="9866948" y="4417100"/>
            <a:ext cx="37427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Каждое изображение требует отдельного запроса к серверу, замедляя рендеринг интерфейса</a:t>
            </a:r>
            <a:endParaRPr lang="en-US" sz="1750"/>
          </a:p>
        </p:txBody>
      </p:sp>
      <p:pic>
        <p:nvPicPr>
          <p:cNvPr id="207341358" name="Рисунок 207341357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303124" y="7529285"/>
            <a:ext cx="2228850" cy="6572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1934005" name="Shape 0"/>
          <p:cNvSpPr/>
          <p:nvPr/>
        </p:nvSpPr>
        <p:spPr bwMode="auto">
          <a:xfrm>
            <a:off x="793790" y="1447443"/>
            <a:ext cx="1140381" cy="441484"/>
          </a:xfrm>
          <a:prstGeom prst="roundRect">
            <a:avLst>
              <a:gd name="adj" fmla="val 6165"/>
            </a:avLst>
          </a:prstGeom>
          <a:noFill/>
          <a:ln w="7620">
            <a:solidFill>
              <a:srgbClr val="FFBC8F"/>
            </a:solidFill>
            <a:prstDash val="solid"/>
          </a:ln>
        </p:spPr>
      </p:sp>
      <p:sp>
        <p:nvSpPr>
          <p:cNvPr id="2010447823" name="Text 1"/>
          <p:cNvSpPr/>
          <p:nvPr/>
        </p:nvSpPr>
        <p:spPr bwMode="auto">
          <a:xfrm>
            <a:off x="937498" y="1523047"/>
            <a:ext cx="852964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  <a:defRPr/>
            </a:pPr>
            <a:r>
              <a:rPr lang="en-US" sz="1400">
                <a:solidFill>
                  <a:srgbClr val="FFBC8F"/>
                </a:solidFill>
                <a:latin typeface="Roboto"/>
                <a:ea typeface="Roboto"/>
                <a:cs typeface="Roboto"/>
              </a:rPr>
              <a:t>РЕШЕНИЕ</a:t>
            </a:r>
            <a:endParaRPr lang="en-US" sz="1400"/>
          </a:p>
        </p:txBody>
      </p:sp>
      <p:sp>
        <p:nvSpPr>
          <p:cNvPr id="1305221954" name="Text 2"/>
          <p:cNvSpPr/>
          <p:nvPr/>
        </p:nvSpPr>
        <p:spPr bwMode="auto">
          <a:xfrm>
            <a:off x="793790" y="1979652"/>
            <a:ext cx="11392853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  <a:defRPr/>
            </a:pPr>
            <a:r>
              <a:rPr lang="en-US" sz="4450">
                <a:solidFill>
                  <a:srgbClr val="F3F3F2"/>
                </a:solidFill>
                <a:latin typeface="IBM Plex Sans Medium"/>
                <a:ea typeface="IBM Plex Sans Medium"/>
                <a:cs typeface="IBM Plex Sans Medium"/>
              </a:rPr>
              <a:t>CSS box-shadow как графический движок</a:t>
            </a:r>
            <a:endParaRPr lang="en-US" sz="4450"/>
          </a:p>
        </p:txBody>
      </p:sp>
      <p:sp>
        <p:nvSpPr>
          <p:cNvPr id="1402851431" name="Text 3"/>
          <p:cNvSpPr/>
          <p:nvPr/>
        </p:nvSpPr>
        <p:spPr bwMode="auto">
          <a:xfrm>
            <a:off x="793790" y="3255407"/>
            <a:ext cx="438507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2650">
                <a:solidFill>
                  <a:srgbClr val="F3F3F2"/>
                </a:solidFill>
                <a:latin typeface="IBM Plex Sans Medium"/>
                <a:ea typeface="IBM Plex Sans Medium"/>
                <a:cs typeface="IBM Plex Sans Medium"/>
              </a:rPr>
              <a:t>Преимущества технологии</a:t>
            </a:r>
            <a:endParaRPr lang="en-US" sz="2650"/>
          </a:p>
        </p:txBody>
      </p:sp>
      <p:sp>
        <p:nvSpPr>
          <p:cNvPr id="2008858583" name="Text 4"/>
          <p:cNvSpPr/>
          <p:nvPr/>
        </p:nvSpPr>
        <p:spPr bwMode="auto">
          <a:xfrm>
            <a:off x="793790" y="3907512"/>
            <a:ext cx="7604284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  <a:defRPr/>
            </a:pPr>
            <a:r>
              <a:rPr lang="en-US" sz="17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Один HTML-элемент вместо десятков пикселей</a:t>
            </a:r>
            <a:endParaRPr lang="en-US" sz="1750"/>
          </a:p>
        </p:txBody>
      </p:sp>
      <p:sp>
        <p:nvSpPr>
          <p:cNvPr id="469331181" name="Text 5"/>
          <p:cNvSpPr/>
          <p:nvPr/>
        </p:nvSpPr>
        <p:spPr bwMode="auto">
          <a:xfrm>
            <a:off x="793790" y="4349710"/>
            <a:ext cx="7604284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  <a:defRPr/>
            </a:pPr>
            <a:r>
              <a:rPr lang="en-US" sz="17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Векторная четкость при любом масштабе</a:t>
            </a:r>
            <a:endParaRPr lang="en-US" sz="1750"/>
          </a:p>
        </p:txBody>
      </p:sp>
      <p:sp>
        <p:nvSpPr>
          <p:cNvPr id="1280900221" name="Text 6"/>
          <p:cNvSpPr/>
          <p:nvPr/>
        </p:nvSpPr>
        <p:spPr bwMode="auto">
          <a:xfrm>
            <a:off x="793790" y="4791908"/>
            <a:ext cx="7604284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  <a:defRPr/>
            </a:pPr>
            <a:r>
              <a:rPr lang="en-US" sz="17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Нулевое время загрузки — код встроен в CSS</a:t>
            </a:r>
            <a:endParaRPr lang="en-US" sz="1750"/>
          </a:p>
        </p:txBody>
      </p:sp>
      <p:sp>
        <p:nvSpPr>
          <p:cNvPr id="2089217949" name="Text 7"/>
          <p:cNvSpPr/>
          <p:nvPr/>
        </p:nvSpPr>
        <p:spPr bwMode="auto">
          <a:xfrm>
            <a:off x="793790" y="5234106"/>
            <a:ext cx="7604284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  <a:defRPr/>
            </a:pPr>
            <a:r>
              <a:rPr lang="en-US" sz="17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Полный контроль через JavaScript</a:t>
            </a:r>
            <a:endParaRPr lang="en-US" sz="1750"/>
          </a:p>
        </p:txBody>
      </p:sp>
      <p:sp>
        <p:nvSpPr>
          <p:cNvPr id="359479317" name="Shape 8"/>
          <p:cNvSpPr/>
          <p:nvPr/>
        </p:nvSpPr>
        <p:spPr bwMode="auto">
          <a:xfrm>
            <a:off x="8959096" y="3283744"/>
            <a:ext cx="4885015" cy="3243263"/>
          </a:xfrm>
          <a:prstGeom prst="roundRect">
            <a:avLst>
              <a:gd name="adj" fmla="val 1049"/>
            </a:avLst>
          </a:prstGeom>
          <a:solidFill>
            <a:srgbClr val="36393F"/>
          </a:solidFill>
          <a:ln/>
        </p:spPr>
      </p:sp>
      <p:sp>
        <p:nvSpPr>
          <p:cNvPr id="1781049219" name="Shape 9"/>
          <p:cNvSpPr/>
          <p:nvPr/>
        </p:nvSpPr>
        <p:spPr bwMode="auto">
          <a:xfrm>
            <a:off x="8947785" y="3283744"/>
            <a:ext cx="4907637" cy="3243263"/>
          </a:xfrm>
          <a:prstGeom prst="roundRect">
            <a:avLst>
              <a:gd name="adj" fmla="val 1049"/>
            </a:avLst>
          </a:prstGeom>
          <a:solidFill>
            <a:srgbClr val="36393F"/>
          </a:solidFill>
          <a:ln/>
        </p:spPr>
      </p:sp>
      <p:sp>
        <p:nvSpPr>
          <p:cNvPr id="403448618" name="Text 10"/>
          <p:cNvSpPr/>
          <p:nvPr/>
        </p:nvSpPr>
        <p:spPr bwMode="auto">
          <a:xfrm>
            <a:off x="9174599" y="3453765"/>
            <a:ext cx="4454009" cy="290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>
                <a:solidFill>
                  <a:srgbClr val="D4D4D1"/>
                </a:solidFill>
                <a:highlight>
                  <a:srgbClr val="36393F"/>
                </a:highlight>
                <a:latin typeface="Consolas"/>
                <a:ea typeface="Consolas"/>
                <a:cs typeface="Consolas"/>
              </a:rPr>
              <a:t>div {</a:t>
            </a:r>
            <a:endParaRPr lang="en-US" sz="1750"/>
          </a:p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>
                <a:solidFill>
                  <a:srgbClr val="D4D4D1"/>
                </a:solidFill>
                <a:highlight>
                  <a:srgbClr val="36393F"/>
                </a:highlight>
                <a:latin typeface="Consolas"/>
                <a:ea typeface="Consolas"/>
                <a:cs typeface="Consolas"/>
              </a:rPr>
              <a:t> width: 1px;</a:t>
            </a:r>
            <a:endParaRPr lang="en-US" sz="1750"/>
          </a:p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>
                <a:solidFill>
                  <a:srgbClr val="D4D4D1"/>
                </a:solidFill>
                <a:highlight>
                  <a:srgbClr val="36393F"/>
                </a:highlight>
                <a:latin typeface="Consolas"/>
                <a:ea typeface="Consolas"/>
                <a:cs typeface="Consolas"/>
              </a:rPr>
              <a:t> height: 1px;</a:t>
            </a:r>
            <a:endParaRPr lang="en-US" sz="1750"/>
          </a:p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>
                <a:solidFill>
                  <a:srgbClr val="D4D4D1"/>
                </a:solidFill>
                <a:highlight>
                  <a:srgbClr val="36393F"/>
                </a:highlight>
                <a:latin typeface="Consolas"/>
                <a:ea typeface="Consolas"/>
                <a:cs typeface="Consolas"/>
              </a:rPr>
              <a:t> box-shadow:</a:t>
            </a:r>
            <a:endParaRPr lang="en-US" sz="1750"/>
          </a:p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>
                <a:solidFill>
                  <a:srgbClr val="D4D4D1"/>
                </a:solidFill>
                <a:highlight>
                  <a:srgbClr val="36393F"/>
                </a:highlight>
                <a:latin typeface="Consolas"/>
                <a:ea typeface="Consolas"/>
                <a:cs typeface="Consolas"/>
              </a:rPr>
              <a:t> 0px 0px 0 10px #000,</a:t>
            </a:r>
            <a:endParaRPr lang="en-US" sz="1750"/>
          </a:p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>
                <a:solidFill>
                  <a:srgbClr val="D4D4D1"/>
                </a:solidFill>
                <a:highlight>
                  <a:srgbClr val="36393F"/>
                </a:highlight>
                <a:latin typeface="Consolas"/>
                <a:ea typeface="Consolas"/>
                <a:cs typeface="Consolas"/>
              </a:rPr>
              <a:t> 10px 0px 0 10px #fff,</a:t>
            </a:r>
            <a:endParaRPr lang="en-US" sz="1750"/>
          </a:p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>
                <a:solidFill>
                  <a:srgbClr val="D4D4D1"/>
                </a:solidFill>
                <a:highlight>
                  <a:srgbClr val="36393F"/>
                </a:highlight>
                <a:latin typeface="Consolas"/>
                <a:ea typeface="Consolas"/>
                <a:cs typeface="Consolas"/>
              </a:rPr>
              <a:t> 20px 0px 0 10px #000;</a:t>
            </a:r>
            <a:endParaRPr lang="en-US" sz="1750"/>
          </a:p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>
                <a:solidFill>
                  <a:srgbClr val="D4D4D1"/>
                </a:solidFill>
                <a:highlight>
                  <a:srgbClr val="36393F"/>
                </a:highlight>
                <a:latin typeface="Consolas"/>
                <a:ea typeface="Consolas"/>
                <a:cs typeface="Consolas"/>
              </a:rPr>
              <a:t>}</a:t>
            </a:r>
            <a:endParaRPr lang="en-US" sz="1750"/>
          </a:p>
        </p:txBody>
      </p:sp>
      <p:pic>
        <p:nvPicPr>
          <p:cNvPr id="1183227875" name="Рисунок 1183227874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337142" y="7540624"/>
            <a:ext cx="2228850" cy="6572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xmlns="" id="{9ACF7C50-9D84-B641-A53D-D9D2594EA9FF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1934005" name="Shape 0">
            <a:extLst>
              <a:ext uri="{FF2B5EF4-FFF2-40B4-BE49-F238E27FC236}">
                <a16:creationId xmlns:a16="http://schemas.microsoft.com/office/drawing/2014/main" xmlns="" id="{6A4F5BD5-9604-E9CB-6BD2-A8E8942AEB7D}"/>
              </a:ext>
            </a:extLst>
          </p:cNvPr>
          <p:cNvSpPr/>
          <p:nvPr/>
        </p:nvSpPr>
        <p:spPr bwMode="auto">
          <a:xfrm>
            <a:off x="793790" y="1411818"/>
            <a:ext cx="1306635" cy="417733"/>
          </a:xfrm>
          <a:prstGeom prst="roundRect">
            <a:avLst>
              <a:gd name="adj" fmla="val 6165"/>
            </a:avLst>
          </a:prstGeom>
          <a:noFill/>
          <a:ln w="7620">
            <a:solidFill>
              <a:srgbClr val="FFBC8F"/>
            </a:solidFill>
            <a:prstDash val="solid"/>
          </a:ln>
        </p:spPr>
      </p:sp>
      <p:sp>
        <p:nvSpPr>
          <p:cNvPr id="2010447823" name="Text 1">
            <a:extLst>
              <a:ext uri="{FF2B5EF4-FFF2-40B4-BE49-F238E27FC236}">
                <a16:creationId xmlns:a16="http://schemas.microsoft.com/office/drawing/2014/main" xmlns="" id="{2D6D5F5A-999C-CC12-CF18-44913E921EDE}"/>
              </a:ext>
            </a:extLst>
          </p:cNvPr>
          <p:cNvSpPr/>
          <p:nvPr/>
        </p:nvSpPr>
        <p:spPr bwMode="auto">
          <a:xfrm>
            <a:off x="937498" y="1523047"/>
            <a:ext cx="852964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  <a:defRPr/>
            </a:pPr>
            <a:r>
              <a:rPr lang="en-US" sz="1400" dirty="0">
                <a:solidFill>
                  <a:srgbClr val="FFBC8F"/>
                </a:solidFill>
                <a:latin typeface="Roboto"/>
                <a:ea typeface="Roboto"/>
                <a:cs typeface="Roboto"/>
              </a:rPr>
              <a:t>АУДИТОРИЯ</a:t>
            </a:r>
          </a:p>
        </p:txBody>
      </p:sp>
      <p:sp>
        <p:nvSpPr>
          <p:cNvPr id="1305221954" name="Text 2">
            <a:extLst>
              <a:ext uri="{FF2B5EF4-FFF2-40B4-BE49-F238E27FC236}">
                <a16:creationId xmlns:a16="http://schemas.microsoft.com/office/drawing/2014/main" xmlns="" id="{B26211C5-B27B-B378-2AC8-AB148EC478B8}"/>
              </a:ext>
            </a:extLst>
          </p:cNvPr>
          <p:cNvSpPr/>
          <p:nvPr/>
        </p:nvSpPr>
        <p:spPr bwMode="auto">
          <a:xfrm>
            <a:off x="793790" y="1979652"/>
            <a:ext cx="11392853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  <a:defRPr/>
            </a:pPr>
            <a:r>
              <a:rPr lang="ru-RU" sz="4450" dirty="0" smtClean="0">
                <a:solidFill>
                  <a:srgbClr val="F3F3F2"/>
                </a:solidFill>
                <a:latin typeface="IBM Plex Sans Medium"/>
              </a:rPr>
              <a:t>Аудитория</a:t>
            </a:r>
            <a:endParaRPr lang="ru-RU" dirty="0"/>
          </a:p>
        </p:txBody>
      </p:sp>
      <p:sp>
        <p:nvSpPr>
          <p:cNvPr id="2008858583" name="Text 4">
            <a:extLst>
              <a:ext uri="{FF2B5EF4-FFF2-40B4-BE49-F238E27FC236}">
                <a16:creationId xmlns:a16="http://schemas.microsoft.com/office/drawing/2014/main" xmlns="" id="{9A9AE32F-2999-643B-7A80-FAA14E36BCB4}"/>
              </a:ext>
            </a:extLst>
          </p:cNvPr>
          <p:cNvSpPr/>
          <p:nvPr/>
        </p:nvSpPr>
        <p:spPr bwMode="auto">
          <a:xfrm>
            <a:off x="793790" y="3010884"/>
            <a:ext cx="11887040" cy="2523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285750" indent="-285750">
              <a:lnSpc>
                <a:spcPct val="150000"/>
              </a:lnSpc>
              <a:buSzPct val="100000"/>
              <a:buFont typeface="Arial"/>
              <a:buChar char="•"/>
              <a:defRPr/>
            </a:pPr>
            <a:r>
              <a:rPr lang="en-US" sz="2400" b="1" dirty="0">
                <a:solidFill>
                  <a:srgbClr val="E7E1E4"/>
                </a:solidFill>
                <a:latin typeface="Roboto"/>
              </a:rPr>
              <a:t>Frontend-</a:t>
            </a:r>
            <a:r>
              <a:rPr lang="en-US" sz="2400" b="1" dirty="0" err="1">
                <a:solidFill>
                  <a:srgbClr val="E7E1E4"/>
                </a:solidFill>
                <a:latin typeface="Roboto"/>
              </a:rPr>
              <a:t>разработчики</a:t>
            </a:r>
            <a:r>
              <a:rPr lang="en-US" sz="2400" b="1" dirty="0">
                <a:solidFill>
                  <a:srgbClr val="E7E1E4"/>
                </a:solidFill>
                <a:latin typeface="Roboto"/>
              </a:rPr>
              <a:t>: </a:t>
            </a:r>
            <a:r>
              <a:rPr lang="en-US" sz="2400" b="1" dirty="0" err="1">
                <a:solidFill>
                  <a:srgbClr val="E7E1E4"/>
                </a:solidFill>
                <a:latin typeface="Roboto"/>
              </a:rPr>
              <a:t>создание</a:t>
            </a:r>
            <a:r>
              <a:rPr lang="en-US" sz="2400" b="1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b="1" dirty="0" err="1">
                <a:solidFill>
                  <a:srgbClr val="E7E1E4"/>
                </a:solidFill>
                <a:latin typeface="Roboto"/>
              </a:rPr>
              <a:t>иконок</a:t>
            </a:r>
            <a:r>
              <a:rPr lang="en-US" sz="2400" b="1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b="1" dirty="0" err="1">
                <a:solidFill>
                  <a:srgbClr val="E7E1E4"/>
                </a:solidFill>
                <a:latin typeface="Roboto"/>
              </a:rPr>
              <a:t>без</a:t>
            </a:r>
            <a:r>
              <a:rPr lang="en-US" sz="2400" b="1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b="1" dirty="0" err="1">
                <a:solidFill>
                  <a:srgbClr val="E7E1E4"/>
                </a:solidFill>
                <a:latin typeface="Roboto"/>
              </a:rPr>
              <a:t>лишних</a:t>
            </a:r>
            <a:r>
              <a:rPr lang="en-US" sz="2400" b="1" dirty="0">
                <a:solidFill>
                  <a:srgbClr val="E7E1E4"/>
                </a:solidFill>
                <a:latin typeface="Roboto"/>
              </a:rPr>
              <a:t> HTTP-</a:t>
            </a:r>
            <a:r>
              <a:rPr lang="en-US" sz="2400" b="1" dirty="0" err="1">
                <a:solidFill>
                  <a:srgbClr val="E7E1E4"/>
                </a:solidFill>
                <a:latin typeface="Roboto"/>
              </a:rPr>
              <a:t>запросов</a:t>
            </a:r>
            <a:r>
              <a:rPr lang="en-US" sz="2400" b="1" dirty="0">
                <a:solidFill>
                  <a:srgbClr val="E7E1E4"/>
                </a:solidFill>
                <a:latin typeface="Roboto"/>
              </a:rPr>
              <a:t>.</a:t>
            </a:r>
            <a:endParaRPr lang="ru-RU" sz="2400" dirty="0">
              <a:solidFill>
                <a:srgbClr val="E7E1E4"/>
              </a:solidFill>
            </a:endParaRPr>
          </a:p>
          <a:p>
            <a:pPr marL="285750" indent="-285750">
              <a:lnSpc>
                <a:spcPct val="150000"/>
              </a:lnSpc>
              <a:buFont typeface="Arial"/>
              <a:buChar char="•"/>
              <a:defRPr/>
            </a:pPr>
            <a:r>
              <a:rPr lang="en-US" sz="2400" b="1" dirty="0">
                <a:solidFill>
                  <a:srgbClr val="E7E1E4"/>
                </a:solidFill>
                <a:latin typeface="Roboto"/>
              </a:rPr>
              <a:t>Web-</a:t>
            </a:r>
            <a:r>
              <a:rPr lang="en-US" sz="2400" b="1" dirty="0" err="1">
                <a:solidFill>
                  <a:srgbClr val="E7E1E4"/>
                </a:solidFill>
                <a:latin typeface="Roboto"/>
              </a:rPr>
              <a:t>дизайнеры</a:t>
            </a:r>
            <a:r>
              <a:rPr lang="en-US" sz="2400" b="1" dirty="0">
                <a:solidFill>
                  <a:srgbClr val="E7E1E4"/>
                </a:solidFill>
                <a:latin typeface="Roboto"/>
              </a:rPr>
              <a:t>: </a:t>
            </a:r>
            <a:r>
              <a:rPr lang="en-US" sz="2400" b="1" dirty="0" err="1">
                <a:solidFill>
                  <a:srgbClr val="E7E1E4"/>
                </a:solidFill>
                <a:latin typeface="Roboto"/>
              </a:rPr>
              <a:t>проектирование</a:t>
            </a:r>
            <a:r>
              <a:rPr lang="en-US" sz="2400" b="1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b="1" dirty="0" err="1">
                <a:solidFill>
                  <a:srgbClr val="E7E1E4"/>
                </a:solidFill>
                <a:latin typeface="Roboto"/>
              </a:rPr>
              <a:t>четкой</a:t>
            </a:r>
            <a:r>
              <a:rPr lang="en-US" sz="2400" b="1" dirty="0">
                <a:solidFill>
                  <a:srgbClr val="E7E1E4"/>
                </a:solidFill>
                <a:latin typeface="Roboto"/>
              </a:rPr>
              <a:t> и </a:t>
            </a:r>
            <a:r>
              <a:rPr lang="en-US" sz="2400" b="1" dirty="0" err="1">
                <a:solidFill>
                  <a:srgbClr val="E7E1E4"/>
                </a:solidFill>
                <a:latin typeface="Roboto"/>
              </a:rPr>
              <a:t>масштабируемой</a:t>
            </a:r>
            <a:r>
              <a:rPr lang="en-US" sz="2400" b="1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b="1" dirty="0" err="1">
                <a:solidFill>
                  <a:srgbClr val="E7E1E4"/>
                </a:solidFill>
                <a:latin typeface="Roboto"/>
              </a:rPr>
              <a:t>графики</a:t>
            </a:r>
            <a:r>
              <a:rPr lang="en-US" sz="2400" b="1" dirty="0">
                <a:solidFill>
                  <a:srgbClr val="E7E1E4"/>
                </a:solidFill>
                <a:latin typeface="Roboto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  <a:defRPr/>
            </a:pPr>
            <a:r>
              <a:rPr lang="en-US" sz="2400" b="1" dirty="0" err="1">
                <a:solidFill>
                  <a:srgbClr val="E7E1E4"/>
                </a:solidFill>
                <a:latin typeface="Roboto"/>
              </a:rPr>
              <a:t>Студенты</a:t>
            </a:r>
            <a:r>
              <a:rPr lang="en-US" sz="2400" b="1" dirty="0">
                <a:solidFill>
                  <a:srgbClr val="E7E1E4"/>
                </a:solidFill>
                <a:latin typeface="Roboto"/>
              </a:rPr>
              <a:t>: </a:t>
            </a:r>
            <a:r>
              <a:rPr lang="en-US" sz="2400" b="1" dirty="0" err="1">
                <a:solidFill>
                  <a:srgbClr val="E7E1E4"/>
                </a:solidFill>
                <a:latin typeface="Roboto"/>
              </a:rPr>
              <a:t>наглядное</a:t>
            </a:r>
            <a:r>
              <a:rPr lang="en-US" sz="2400" b="1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b="1" dirty="0" err="1">
                <a:solidFill>
                  <a:srgbClr val="E7E1E4"/>
                </a:solidFill>
                <a:latin typeface="Roboto"/>
              </a:rPr>
              <a:t>изучение</a:t>
            </a:r>
            <a:r>
              <a:rPr lang="en-US" sz="2400" b="1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b="1" dirty="0" err="1">
                <a:solidFill>
                  <a:srgbClr val="E7E1E4"/>
                </a:solidFill>
                <a:latin typeface="Roboto"/>
              </a:rPr>
              <a:t>работы</a:t>
            </a:r>
            <a:r>
              <a:rPr lang="en-US" sz="2400" b="1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b="1" dirty="0" err="1">
                <a:solidFill>
                  <a:srgbClr val="E7E1E4"/>
                </a:solidFill>
                <a:latin typeface="Roboto"/>
              </a:rPr>
              <a:t>координат</a:t>
            </a:r>
            <a:r>
              <a:rPr lang="en-US" sz="2400" b="1" dirty="0">
                <a:solidFill>
                  <a:srgbClr val="E7E1E4"/>
                </a:solidFill>
                <a:latin typeface="Roboto"/>
              </a:rPr>
              <a:t> и CSS-</a:t>
            </a:r>
            <a:r>
              <a:rPr lang="en-US" sz="2400" b="1" dirty="0" err="1">
                <a:solidFill>
                  <a:srgbClr val="E7E1E4"/>
                </a:solidFill>
                <a:latin typeface="Roboto"/>
              </a:rPr>
              <a:t>свойств</a:t>
            </a:r>
            <a:r>
              <a:rPr lang="en-US" sz="2400" b="1" dirty="0">
                <a:solidFill>
                  <a:srgbClr val="E7E1E4"/>
                </a:solidFill>
                <a:latin typeface="Roboto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  <a:defRPr/>
            </a:pPr>
            <a:r>
              <a:rPr lang="en-US" sz="2400" b="1" dirty="0" err="1">
                <a:solidFill>
                  <a:srgbClr val="E7E1E4"/>
                </a:solidFill>
                <a:latin typeface="Roboto"/>
              </a:rPr>
              <a:t>Инди-разработчики</a:t>
            </a:r>
            <a:r>
              <a:rPr lang="en-US" sz="2400" b="1" dirty="0">
                <a:solidFill>
                  <a:srgbClr val="E7E1E4"/>
                </a:solidFill>
                <a:latin typeface="Roboto"/>
              </a:rPr>
              <a:t>: </a:t>
            </a:r>
            <a:r>
              <a:rPr lang="en-US" sz="2400" b="1" dirty="0" err="1">
                <a:solidFill>
                  <a:srgbClr val="E7E1E4"/>
                </a:solidFill>
                <a:latin typeface="Roboto"/>
              </a:rPr>
              <a:t>быстрая</a:t>
            </a:r>
            <a:r>
              <a:rPr lang="en-US" sz="2400" b="1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b="1" dirty="0" err="1">
                <a:solidFill>
                  <a:srgbClr val="E7E1E4"/>
                </a:solidFill>
                <a:latin typeface="Roboto"/>
              </a:rPr>
              <a:t>генерация</a:t>
            </a:r>
            <a:r>
              <a:rPr lang="en-US" sz="2400" b="1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b="1" dirty="0" err="1">
                <a:solidFill>
                  <a:srgbClr val="E7E1E4"/>
                </a:solidFill>
                <a:latin typeface="Roboto"/>
              </a:rPr>
              <a:t>легких</a:t>
            </a:r>
            <a:r>
              <a:rPr lang="en-US" sz="2400" b="1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b="1" dirty="0" err="1">
                <a:solidFill>
                  <a:srgbClr val="E7E1E4"/>
                </a:solidFill>
                <a:latin typeface="Roboto"/>
              </a:rPr>
              <a:t>ассетов</a:t>
            </a:r>
            <a:r>
              <a:rPr lang="en-US" sz="2400" b="1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b="1" dirty="0" err="1">
                <a:solidFill>
                  <a:srgbClr val="E7E1E4"/>
                </a:solidFill>
                <a:latin typeface="Roboto"/>
              </a:rPr>
              <a:t>для</a:t>
            </a:r>
            <a:r>
              <a:rPr lang="en-US" sz="2400" b="1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b="1" dirty="0" err="1">
                <a:solidFill>
                  <a:srgbClr val="E7E1E4"/>
                </a:solidFill>
                <a:latin typeface="Roboto"/>
              </a:rPr>
              <a:t>веб-игр</a:t>
            </a:r>
            <a:r>
              <a:rPr lang="en-US" sz="2400" b="1" dirty="0">
                <a:solidFill>
                  <a:srgbClr val="E7E1E4"/>
                </a:solidFill>
                <a:latin typeface="Roboto"/>
              </a:rPr>
              <a:t>.</a:t>
            </a:r>
          </a:p>
        </p:txBody>
      </p:sp>
      <p:pic>
        <p:nvPicPr>
          <p:cNvPr id="1183227875" name="Рисунок 1183227874">
            <a:extLst>
              <a:ext uri="{FF2B5EF4-FFF2-40B4-BE49-F238E27FC236}">
                <a16:creationId xmlns:a16="http://schemas.microsoft.com/office/drawing/2014/main" xmlns="" id="{1C9D4CF7-ED55-E4C0-3BC5-BAEF11B59DC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337142" y="7540624"/>
            <a:ext cx="2228850" cy="657225"/>
          </a:xfrm>
          <a:prstGeom prst="rect">
            <a:avLst/>
          </a:prstGeom>
        </p:spPr>
      </p:pic>
      <p:sp>
        <p:nvSpPr>
          <p:cNvPr id="3" name="Text 4">
            <a:extLst>
              <a:ext uri="{FF2B5EF4-FFF2-40B4-BE49-F238E27FC236}">
                <a16:creationId xmlns:a16="http://schemas.microsoft.com/office/drawing/2014/main" xmlns="" id="{4BE62519-2CA8-F3B5-A41C-E00AD5A7FB73}"/>
              </a:ext>
            </a:extLst>
          </p:cNvPr>
          <p:cNvSpPr/>
          <p:nvPr/>
        </p:nvSpPr>
        <p:spPr bwMode="auto">
          <a:xfrm>
            <a:off x="686441" y="6393702"/>
            <a:ext cx="13324043" cy="14236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buSzPct val="100000"/>
              <a:buAutoNum type="arabicPeriod"/>
              <a:defRPr/>
            </a:pPr>
            <a:r>
              <a:rPr lang="en-US" sz="2400" dirty="0" err="1">
                <a:solidFill>
                  <a:srgbClr val="E7E1E4"/>
                </a:solidFill>
                <a:latin typeface="Roboto"/>
              </a:rPr>
              <a:t>Соблюдена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иерархия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: 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Заголовок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 и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подзаголовок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 в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вашем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стиле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.</a:t>
            </a:r>
            <a:endParaRPr lang="ru-RU" sz="2400" dirty="0">
              <a:solidFill>
                <a:srgbClr val="E7E1E4"/>
              </a:solidFill>
              <a:latin typeface="Roboto"/>
            </a:endParaRPr>
          </a:p>
          <a:p>
            <a:pPr marL="342900" indent="-342900">
              <a:buAutoNum type="arabicPeriod"/>
              <a:defRPr/>
            </a:pPr>
            <a:r>
              <a:rPr lang="en-US" sz="2400" dirty="0" err="1">
                <a:solidFill>
                  <a:srgbClr val="E7E1E4"/>
                </a:solidFill>
                <a:latin typeface="Roboto"/>
              </a:rPr>
              <a:t>Акцент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на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пользу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: 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Сразу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понятно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,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какую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задачу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решает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инструмент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для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каждой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группы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.</a:t>
            </a:r>
          </a:p>
          <a:p>
            <a:pPr marL="342900" indent="-342900">
              <a:buAutoNum type="arabicPeriod"/>
              <a:defRPr/>
            </a:pPr>
            <a:r>
              <a:rPr lang="en-US" sz="2400" dirty="0" err="1">
                <a:solidFill>
                  <a:srgbClr val="E7E1E4"/>
                </a:solidFill>
                <a:latin typeface="Roboto"/>
              </a:rPr>
              <a:t>Визуальная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чистота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: 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Минимум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текста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,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максимум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смысла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 —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как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раз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для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копирования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 </a:t>
            </a:r>
            <a:endParaRPr lang="ru-RU" sz="2400" dirty="0" smtClean="0">
              <a:solidFill>
                <a:srgbClr val="E7E1E4"/>
              </a:solidFill>
              <a:latin typeface="Roboto"/>
            </a:endParaRPr>
          </a:p>
          <a:p>
            <a:pPr>
              <a:defRPr/>
            </a:pPr>
            <a:r>
              <a:rPr lang="ru-RU" sz="2400" dirty="0">
                <a:solidFill>
                  <a:srgbClr val="E7E1E4"/>
                </a:solidFill>
                <a:latin typeface="Roboto"/>
              </a:rPr>
              <a:t> </a:t>
            </a:r>
            <a:r>
              <a:rPr lang="ru-RU" sz="2400" dirty="0" smtClean="0">
                <a:solidFill>
                  <a:srgbClr val="E7E1E4"/>
                </a:solidFill>
                <a:latin typeface="Roboto"/>
              </a:rPr>
              <a:t>   </a:t>
            </a:r>
            <a:r>
              <a:rPr lang="en-US" sz="2400" dirty="0" err="1" smtClean="0">
                <a:solidFill>
                  <a:srgbClr val="E7E1E4"/>
                </a:solidFill>
                <a:latin typeface="Roboto"/>
              </a:rPr>
              <a:t>структуры</a:t>
            </a:r>
            <a:r>
              <a:rPr lang="en-US" sz="2400" dirty="0" smtClean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вашего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первого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слайда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.</a:t>
            </a:r>
          </a:p>
          <a:p>
            <a:pPr marL="342900" indent="-342900">
              <a:buSzPct val="100000"/>
              <a:buAutoNum type="arabicPeriod"/>
              <a:defRPr/>
            </a:pPr>
            <a:endParaRPr lang="en-US" sz="2400" dirty="0">
              <a:solidFill>
                <a:srgbClr val="E7E1E4"/>
              </a:solidFill>
              <a:latin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3161560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xmlns="" id="{9ACF7C50-9D84-B641-A53D-D9D2594EA9FF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1934005" name="Shape 0">
            <a:extLst>
              <a:ext uri="{FF2B5EF4-FFF2-40B4-BE49-F238E27FC236}">
                <a16:creationId xmlns:a16="http://schemas.microsoft.com/office/drawing/2014/main" xmlns="" id="{6A4F5BD5-9604-E9CB-6BD2-A8E8942AEB7D}"/>
              </a:ext>
            </a:extLst>
          </p:cNvPr>
          <p:cNvSpPr/>
          <p:nvPr/>
        </p:nvSpPr>
        <p:spPr bwMode="auto">
          <a:xfrm>
            <a:off x="793790" y="1411818"/>
            <a:ext cx="1742376" cy="417733"/>
          </a:xfrm>
          <a:prstGeom prst="roundRect">
            <a:avLst>
              <a:gd name="adj" fmla="val 6165"/>
            </a:avLst>
          </a:prstGeom>
          <a:noFill/>
          <a:ln w="7620">
            <a:solidFill>
              <a:srgbClr val="FFBC8F"/>
            </a:solidFill>
            <a:prstDash val="solid"/>
          </a:ln>
        </p:spPr>
      </p:sp>
      <p:sp>
        <p:nvSpPr>
          <p:cNvPr id="2010447823" name="Text 1">
            <a:extLst>
              <a:ext uri="{FF2B5EF4-FFF2-40B4-BE49-F238E27FC236}">
                <a16:creationId xmlns:a16="http://schemas.microsoft.com/office/drawing/2014/main" xmlns="" id="{2D6D5F5A-999C-CC12-CF18-44913E921EDE}"/>
              </a:ext>
            </a:extLst>
          </p:cNvPr>
          <p:cNvSpPr/>
          <p:nvPr/>
        </p:nvSpPr>
        <p:spPr bwMode="auto">
          <a:xfrm>
            <a:off x="937498" y="1523047"/>
            <a:ext cx="852964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  <a:defRPr/>
            </a:pPr>
            <a:r>
              <a:rPr lang="ru-RU" sz="1400" dirty="0" smtClean="0">
                <a:solidFill>
                  <a:srgbClr val="FFBC8F"/>
                </a:solidFill>
                <a:latin typeface="Roboto"/>
                <a:ea typeface="Roboto"/>
                <a:cs typeface="Roboto"/>
              </a:rPr>
              <a:t>ПРЕИМУЩЕСТВА</a:t>
            </a:r>
            <a:endParaRPr lang="en-US" sz="1400" dirty="0">
              <a:solidFill>
                <a:srgbClr val="FFBC8F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305221954" name="Text 2">
            <a:extLst>
              <a:ext uri="{FF2B5EF4-FFF2-40B4-BE49-F238E27FC236}">
                <a16:creationId xmlns:a16="http://schemas.microsoft.com/office/drawing/2014/main" xmlns="" id="{B26211C5-B27B-B378-2AC8-AB148EC478B8}"/>
              </a:ext>
            </a:extLst>
          </p:cNvPr>
          <p:cNvSpPr/>
          <p:nvPr/>
        </p:nvSpPr>
        <p:spPr bwMode="auto">
          <a:xfrm>
            <a:off x="793790" y="1979652"/>
            <a:ext cx="11392853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  <a:defRPr/>
            </a:pPr>
            <a:r>
              <a:rPr lang="ru-RU" sz="4450" dirty="0" smtClean="0">
                <a:solidFill>
                  <a:srgbClr val="F3F3F2"/>
                </a:solidFill>
                <a:latin typeface="IBM Plex Sans Medium"/>
              </a:rPr>
              <a:t>Преимущества</a:t>
            </a:r>
            <a:endParaRPr lang="ru-RU" dirty="0"/>
          </a:p>
        </p:txBody>
      </p:sp>
      <p:pic>
        <p:nvPicPr>
          <p:cNvPr id="1183227875" name="Рисунок 1183227874">
            <a:extLst>
              <a:ext uri="{FF2B5EF4-FFF2-40B4-BE49-F238E27FC236}">
                <a16:creationId xmlns:a16="http://schemas.microsoft.com/office/drawing/2014/main" xmlns="" id="{1C9D4CF7-ED55-E4C0-3BC5-BAEF11B59DC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337142" y="7540624"/>
            <a:ext cx="2228850" cy="657225"/>
          </a:xfrm>
          <a:prstGeom prst="rect">
            <a:avLst/>
          </a:prstGeom>
        </p:spPr>
      </p:pic>
      <p:sp>
        <p:nvSpPr>
          <p:cNvPr id="3" name="Text 4">
            <a:extLst>
              <a:ext uri="{FF2B5EF4-FFF2-40B4-BE49-F238E27FC236}">
                <a16:creationId xmlns:a16="http://schemas.microsoft.com/office/drawing/2014/main" xmlns="" id="{4BE62519-2CA8-F3B5-A41C-E00AD5A7FB73}"/>
              </a:ext>
            </a:extLst>
          </p:cNvPr>
          <p:cNvSpPr/>
          <p:nvPr/>
        </p:nvSpPr>
        <p:spPr bwMode="auto">
          <a:xfrm>
            <a:off x="686441" y="3236434"/>
            <a:ext cx="13324043" cy="30781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lnSpc>
                <a:spcPct val="150000"/>
              </a:lnSpc>
              <a:buSzPct val="100000"/>
              <a:buAutoNum type="arabicPeriod"/>
              <a:defRPr/>
            </a:pPr>
            <a:r>
              <a:rPr lang="en-US" sz="2400" dirty="0" err="1">
                <a:solidFill>
                  <a:srgbClr val="E7E1E4"/>
                </a:solidFill>
                <a:latin typeface="Roboto"/>
              </a:rPr>
              <a:t>Соблюдена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иерархия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: </a:t>
            </a:r>
            <a:r>
              <a:rPr lang="ru-RU" sz="2400" dirty="0" err="1">
                <a:solidFill>
                  <a:srgbClr val="E7E1E4"/>
                </a:solidFill>
                <a:latin typeface="Roboto"/>
              </a:rPr>
              <a:t>з</a:t>
            </a:r>
            <a:r>
              <a:rPr lang="en-US" sz="2400" dirty="0" err="1" smtClean="0">
                <a:solidFill>
                  <a:srgbClr val="E7E1E4"/>
                </a:solidFill>
                <a:latin typeface="Roboto"/>
              </a:rPr>
              <a:t>аголовок</a:t>
            </a:r>
            <a:r>
              <a:rPr lang="en-US" sz="2400" dirty="0" smtClean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и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подзаголовок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 в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вашем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стиле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.</a:t>
            </a:r>
            <a:endParaRPr lang="ru-RU" sz="2400" dirty="0">
              <a:solidFill>
                <a:srgbClr val="E7E1E4"/>
              </a:solidFill>
              <a:latin typeface="Roboto"/>
            </a:endParaRPr>
          </a:p>
          <a:p>
            <a:pPr marL="342900" indent="-342900">
              <a:lnSpc>
                <a:spcPct val="150000"/>
              </a:lnSpc>
              <a:buAutoNum type="arabicPeriod"/>
              <a:defRPr/>
            </a:pPr>
            <a:r>
              <a:rPr lang="en-US" sz="2400" dirty="0" err="1">
                <a:solidFill>
                  <a:srgbClr val="E7E1E4"/>
                </a:solidFill>
                <a:latin typeface="Roboto"/>
              </a:rPr>
              <a:t>Акцент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на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пользу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: </a:t>
            </a:r>
            <a:r>
              <a:rPr lang="ru-RU" sz="2400" dirty="0" err="1">
                <a:solidFill>
                  <a:srgbClr val="E7E1E4"/>
                </a:solidFill>
                <a:latin typeface="Roboto"/>
              </a:rPr>
              <a:t>с</a:t>
            </a:r>
            <a:r>
              <a:rPr lang="en-US" sz="2400" dirty="0" err="1" smtClean="0">
                <a:solidFill>
                  <a:srgbClr val="E7E1E4"/>
                </a:solidFill>
                <a:latin typeface="Roboto"/>
              </a:rPr>
              <a:t>разу</a:t>
            </a:r>
            <a:r>
              <a:rPr lang="en-US" sz="2400" dirty="0" smtClean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понятно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,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какую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задачу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решает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инструмент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для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каждой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группы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.</a:t>
            </a:r>
          </a:p>
          <a:p>
            <a:pPr marL="342900" indent="-342900">
              <a:lnSpc>
                <a:spcPct val="150000"/>
              </a:lnSpc>
              <a:buAutoNum type="arabicPeriod"/>
              <a:defRPr/>
            </a:pPr>
            <a:r>
              <a:rPr lang="en-US" sz="2400" dirty="0" err="1">
                <a:solidFill>
                  <a:srgbClr val="E7E1E4"/>
                </a:solidFill>
                <a:latin typeface="Roboto"/>
              </a:rPr>
              <a:t>Визуальная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чистота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: </a:t>
            </a:r>
            <a:r>
              <a:rPr lang="ru-RU" sz="2400" dirty="0" err="1">
                <a:solidFill>
                  <a:srgbClr val="E7E1E4"/>
                </a:solidFill>
                <a:latin typeface="Roboto"/>
              </a:rPr>
              <a:t>м</a:t>
            </a:r>
            <a:r>
              <a:rPr lang="en-US" sz="2400" dirty="0" err="1" smtClean="0">
                <a:solidFill>
                  <a:srgbClr val="E7E1E4"/>
                </a:solidFill>
                <a:latin typeface="Roboto"/>
              </a:rPr>
              <a:t>инимум</a:t>
            </a:r>
            <a:r>
              <a:rPr lang="en-US" sz="2400" dirty="0" smtClean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текста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,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максимум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смысла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 —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как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раз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для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копирования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 </a:t>
            </a:r>
            <a:endParaRPr lang="ru-RU" sz="2400" dirty="0" smtClean="0">
              <a:solidFill>
                <a:srgbClr val="E7E1E4"/>
              </a:solidFill>
              <a:latin typeface="Roboto"/>
            </a:endParaRPr>
          </a:p>
          <a:p>
            <a:pPr>
              <a:lnSpc>
                <a:spcPct val="150000"/>
              </a:lnSpc>
              <a:defRPr/>
            </a:pPr>
            <a:r>
              <a:rPr lang="ru-RU" sz="2400" dirty="0">
                <a:solidFill>
                  <a:srgbClr val="E7E1E4"/>
                </a:solidFill>
                <a:latin typeface="Roboto"/>
              </a:rPr>
              <a:t> </a:t>
            </a:r>
            <a:r>
              <a:rPr lang="ru-RU" sz="2400" dirty="0" smtClean="0">
                <a:solidFill>
                  <a:srgbClr val="E7E1E4"/>
                </a:solidFill>
                <a:latin typeface="Roboto"/>
              </a:rPr>
              <a:t>   </a:t>
            </a:r>
            <a:r>
              <a:rPr lang="en-US" sz="2400" dirty="0" err="1" smtClean="0">
                <a:solidFill>
                  <a:srgbClr val="E7E1E4"/>
                </a:solidFill>
                <a:latin typeface="Roboto"/>
              </a:rPr>
              <a:t>структуры</a:t>
            </a:r>
            <a:r>
              <a:rPr lang="en-US" sz="2400" dirty="0" smtClean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вашего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первого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 </a:t>
            </a:r>
            <a:r>
              <a:rPr lang="en-US" sz="2400" dirty="0" err="1">
                <a:solidFill>
                  <a:srgbClr val="E7E1E4"/>
                </a:solidFill>
                <a:latin typeface="Roboto"/>
              </a:rPr>
              <a:t>слайда</a:t>
            </a:r>
            <a:r>
              <a:rPr lang="en-US" sz="2400" dirty="0">
                <a:solidFill>
                  <a:srgbClr val="E7E1E4"/>
                </a:solidFill>
                <a:latin typeface="Roboto"/>
              </a:rPr>
              <a:t>.</a:t>
            </a:r>
          </a:p>
          <a:p>
            <a:pPr marL="342900" indent="-342900">
              <a:lnSpc>
                <a:spcPct val="150000"/>
              </a:lnSpc>
              <a:buSzPct val="100000"/>
              <a:buAutoNum type="arabicPeriod"/>
              <a:defRPr/>
            </a:pPr>
            <a:endParaRPr lang="en-US" sz="2400" dirty="0">
              <a:solidFill>
                <a:srgbClr val="E7E1E4"/>
              </a:solidFill>
              <a:latin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36563146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4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3220937" name="Text 0"/>
          <p:cNvSpPr/>
          <p:nvPr/>
        </p:nvSpPr>
        <p:spPr bwMode="auto">
          <a:xfrm>
            <a:off x="793790" y="1189434"/>
            <a:ext cx="6035516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  <a:defRPr/>
            </a:pPr>
            <a:r>
              <a:rPr lang="en-US" sz="4450">
                <a:solidFill>
                  <a:srgbClr val="F3F3F2"/>
                </a:solidFill>
                <a:latin typeface="IBM Plex Sans Medium"/>
                <a:ea typeface="IBM Plex Sans Medium"/>
                <a:cs typeface="IBM Plex Sans Medium"/>
              </a:rPr>
              <a:t>Технологический стек</a:t>
            </a:r>
            <a:endParaRPr lang="en-US" sz="4450"/>
          </a:p>
        </p:txBody>
      </p:sp>
      <p:sp>
        <p:nvSpPr>
          <p:cNvPr id="210562421" name="Shape 1"/>
          <p:cNvSpPr/>
          <p:nvPr/>
        </p:nvSpPr>
        <p:spPr bwMode="auto">
          <a:xfrm>
            <a:off x="793790" y="2692003"/>
            <a:ext cx="4196358" cy="2766298"/>
          </a:xfrm>
          <a:prstGeom prst="roundRect">
            <a:avLst>
              <a:gd name="adj" fmla="val 5289"/>
            </a:avLst>
          </a:prstGeom>
          <a:solidFill>
            <a:srgbClr val="292C32"/>
          </a:solidFill>
          <a:ln/>
        </p:spPr>
      </p:sp>
      <p:sp>
        <p:nvSpPr>
          <p:cNvPr id="659272408" name="Shape 2"/>
          <p:cNvSpPr/>
          <p:nvPr/>
        </p:nvSpPr>
        <p:spPr bwMode="auto">
          <a:xfrm>
            <a:off x="793790" y="2661523"/>
            <a:ext cx="4196358" cy="121920"/>
          </a:xfrm>
          <a:prstGeom prst="roundRect">
            <a:avLst>
              <a:gd name="adj" fmla="val 27907"/>
            </a:avLst>
          </a:prstGeom>
          <a:solidFill>
            <a:srgbClr val="FFBC8F"/>
          </a:solidFill>
          <a:ln/>
        </p:spPr>
      </p:sp>
      <p:sp>
        <p:nvSpPr>
          <p:cNvPr id="328940922" name="Shape 3"/>
          <p:cNvSpPr/>
          <p:nvPr/>
        </p:nvSpPr>
        <p:spPr bwMode="auto">
          <a:xfrm>
            <a:off x="2551687" y="2351842"/>
            <a:ext cx="680441" cy="680441"/>
          </a:xfrm>
          <a:prstGeom prst="roundRect">
            <a:avLst>
              <a:gd name="adj" fmla="val 134383"/>
            </a:avLst>
          </a:prstGeom>
          <a:solidFill>
            <a:srgbClr val="FFBC8F"/>
          </a:solidFill>
          <a:ln/>
        </p:spPr>
      </p:sp>
      <p:sp>
        <p:nvSpPr>
          <p:cNvPr id="1665570445" name="Text 4"/>
          <p:cNvSpPr/>
          <p:nvPr/>
        </p:nvSpPr>
        <p:spPr bwMode="auto">
          <a:xfrm>
            <a:off x="2755761" y="2486356"/>
            <a:ext cx="272177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algn="ctr">
              <a:lnSpc>
                <a:spcPts val="3400"/>
              </a:lnSpc>
              <a:buNone/>
              <a:defRPr/>
            </a:pPr>
            <a:r>
              <a:rPr lang="en-US" sz="2100" dirty="0">
                <a:solidFill>
                  <a:srgbClr val="000000"/>
                </a:solidFill>
                <a:latin typeface="IBM Plex Sans Medium"/>
                <a:ea typeface="IBM Plex Sans Medium"/>
                <a:cs typeface="IBM Plex Sans Medium"/>
              </a:rPr>
              <a:t>1</a:t>
            </a:r>
            <a:endParaRPr lang="en-US" sz="2100" dirty="0"/>
          </a:p>
        </p:txBody>
      </p:sp>
      <p:sp>
        <p:nvSpPr>
          <p:cNvPr id="1162462955" name="Text 5"/>
          <p:cNvSpPr/>
          <p:nvPr/>
        </p:nvSpPr>
        <p:spPr bwMode="auto">
          <a:xfrm>
            <a:off x="1051084" y="325897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  <a:defRPr/>
            </a:pPr>
            <a:r>
              <a:rPr lang="en-US" sz="2200">
                <a:solidFill>
                  <a:srgbClr val="D4D4D1"/>
                </a:solidFill>
                <a:latin typeface="IBM Plex Sans Medium"/>
                <a:ea typeface="IBM Plex Sans Medium"/>
                <a:cs typeface="IBM Plex Sans Medium"/>
              </a:rPr>
              <a:t>HTML5 Canvas</a:t>
            </a:r>
            <a:endParaRPr lang="en-US" sz="2200"/>
          </a:p>
        </p:txBody>
      </p:sp>
      <p:sp>
        <p:nvSpPr>
          <p:cNvPr id="225573947" name="Text 6"/>
          <p:cNvSpPr/>
          <p:nvPr/>
        </p:nvSpPr>
        <p:spPr bwMode="auto">
          <a:xfrm>
            <a:off x="1051084" y="3749397"/>
            <a:ext cx="368177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Семантическая структура документа с минимальной разметкой для максимальной производительности</a:t>
            </a:r>
            <a:endParaRPr lang="en-US" sz="1750"/>
          </a:p>
        </p:txBody>
      </p:sp>
      <p:sp>
        <p:nvSpPr>
          <p:cNvPr id="1159908536" name="Shape 7"/>
          <p:cNvSpPr/>
          <p:nvPr/>
        </p:nvSpPr>
        <p:spPr bwMode="auto">
          <a:xfrm>
            <a:off x="5216962" y="2692003"/>
            <a:ext cx="4196358" cy="2766298"/>
          </a:xfrm>
          <a:prstGeom prst="roundRect">
            <a:avLst>
              <a:gd name="adj" fmla="val 5289"/>
            </a:avLst>
          </a:prstGeom>
          <a:solidFill>
            <a:srgbClr val="292C32"/>
          </a:solidFill>
          <a:ln/>
        </p:spPr>
      </p:sp>
      <p:sp>
        <p:nvSpPr>
          <p:cNvPr id="1176301596" name="Shape 8"/>
          <p:cNvSpPr/>
          <p:nvPr/>
        </p:nvSpPr>
        <p:spPr bwMode="auto">
          <a:xfrm>
            <a:off x="5216962" y="2661523"/>
            <a:ext cx="4196358" cy="121920"/>
          </a:xfrm>
          <a:prstGeom prst="roundRect">
            <a:avLst>
              <a:gd name="adj" fmla="val 27907"/>
            </a:avLst>
          </a:prstGeom>
          <a:solidFill>
            <a:srgbClr val="FFBC8F"/>
          </a:solidFill>
          <a:ln/>
        </p:spPr>
      </p:sp>
      <p:sp>
        <p:nvSpPr>
          <p:cNvPr id="1967713792" name="Shape 9"/>
          <p:cNvSpPr/>
          <p:nvPr/>
        </p:nvSpPr>
        <p:spPr bwMode="auto">
          <a:xfrm>
            <a:off x="6974860" y="2351842"/>
            <a:ext cx="680441" cy="680441"/>
          </a:xfrm>
          <a:prstGeom prst="roundRect">
            <a:avLst>
              <a:gd name="adj" fmla="val 134383"/>
            </a:avLst>
          </a:prstGeom>
          <a:solidFill>
            <a:srgbClr val="FFBC8F"/>
          </a:solidFill>
          <a:ln/>
        </p:spPr>
      </p:sp>
      <p:sp>
        <p:nvSpPr>
          <p:cNvPr id="1257957939" name="Text 10"/>
          <p:cNvSpPr/>
          <p:nvPr/>
        </p:nvSpPr>
        <p:spPr bwMode="auto">
          <a:xfrm>
            <a:off x="7190808" y="2486356"/>
            <a:ext cx="272177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3400"/>
              </a:lnSpc>
              <a:buNone/>
              <a:defRPr/>
            </a:pPr>
            <a:r>
              <a:rPr lang="en-US" sz="2100">
                <a:solidFill>
                  <a:srgbClr val="000000"/>
                </a:solidFill>
                <a:latin typeface="IBM Plex Sans Medium"/>
                <a:ea typeface="IBM Plex Sans Medium"/>
                <a:cs typeface="IBM Plex Sans Medium"/>
              </a:rPr>
              <a:t>2</a:t>
            </a:r>
            <a:endParaRPr lang="en-US" sz="2100"/>
          </a:p>
        </p:txBody>
      </p:sp>
      <p:sp>
        <p:nvSpPr>
          <p:cNvPr id="416079055" name="Text 11"/>
          <p:cNvSpPr/>
          <p:nvPr/>
        </p:nvSpPr>
        <p:spPr bwMode="auto">
          <a:xfrm>
            <a:off x="5474256" y="325897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  <a:defRPr/>
            </a:pPr>
            <a:r>
              <a:rPr lang="en-US" sz="2200">
                <a:solidFill>
                  <a:srgbClr val="D4D4D1"/>
                </a:solidFill>
                <a:latin typeface="IBM Plex Sans Medium"/>
                <a:ea typeface="IBM Plex Sans Medium"/>
                <a:cs typeface="IBM Plex Sans Medium"/>
              </a:rPr>
              <a:t>CSS3 Grid &amp; Flexbox</a:t>
            </a:r>
            <a:endParaRPr lang="en-US" sz="2200"/>
          </a:p>
        </p:txBody>
      </p:sp>
      <p:sp>
        <p:nvSpPr>
          <p:cNvPr id="1124993461" name="Text 12"/>
          <p:cNvSpPr/>
          <p:nvPr/>
        </p:nvSpPr>
        <p:spPr bwMode="auto">
          <a:xfrm>
            <a:off x="5474256" y="3749397"/>
            <a:ext cx="368177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Адаптивная сетка рисования с точным позиционированием каждого пикселя через современные layout-системы</a:t>
            </a:r>
            <a:endParaRPr lang="en-US" sz="1750"/>
          </a:p>
        </p:txBody>
      </p:sp>
      <p:sp>
        <p:nvSpPr>
          <p:cNvPr id="364680049" name="Shape 13"/>
          <p:cNvSpPr/>
          <p:nvPr/>
        </p:nvSpPr>
        <p:spPr bwMode="auto">
          <a:xfrm>
            <a:off x="9640133" y="2692003"/>
            <a:ext cx="4196358" cy="2766298"/>
          </a:xfrm>
          <a:prstGeom prst="roundRect">
            <a:avLst>
              <a:gd name="adj" fmla="val 5289"/>
            </a:avLst>
          </a:prstGeom>
          <a:solidFill>
            <a:srgbClr val="292C32"/>
          </a:solidFill>
          <a:ln/>
        </p:spPr>
      </p:sp>
      <p:sp>
        <p:nvSpPr>
          <p:cNvPr id="18947632" name="Shape 14"/>
          <p:cNvSpPr/>
          <p:nvPr/>
        </p:nvSpPr>
        <p:spPr bwMode="auto">
          <a:xfrm>
            <a:off x="9640133" y="2661523"/>
            <a:ext cx="4196358" cy="121920"/>
          </a:xfrm>
          <a:prstGeom prst="roundRect">
            <a:avLst>
              <a:gd name="adj" fmla="val 27907"/>
            </a:avLst>
          </a:prstGeom>
          <a:solidFill>
            <a:srgbClr val="FFBC8F"/>
          </a:solidFill>
          <a:ln/>
        </p:spPr>
      </p:sp>
      <p:sp>
        <p:nvSpPr>
          <p:cNvPr id="1992806736" name="Shape 15"/>
          <p:cNvSpPr/>
          <p:nvPr/>
        </p:nvSpPr>
        <p:spPr bwMode="auto">
          <a:xfrm>
            <a:off x="11398032" y="2351842"/>
            <a:ext cx="680441" cy="680441"/>
          </a:xfrm>
          <a:prstGeom prst="roundRect">
            <a:avLst>
              <a:gd name="adj" fmla="val 134383"/>
            </a:avLst>
          </a:prstGeom>
          <a:solidFill>
            <a:srgbClr val="FFBC8F"/>
          </a:solidFill>
          <a:ln/>
        </p:spPr>
      </p:sp>
      <p:sp>
        <p:nvSpPr>
          <p:cNvPr id="1593024989" name="Text 16"/>
          <p:cNvSpPr/>
          <p:nvPr/>
        </p:nvSpPr>
        <p:spPr bwMode="auto">
          <a:xfrm>
            <a:off x="11602105" y="2486356"/>
            <a:ext cx="272177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3400"/>
              </a:lnSpc>
              <a:buNone/>
              <a:defRPr/>
            </a:pPr>
            <a:r>
              <a:rPr lang="en-US" sz="2100">
                <a:solidFill>
                  <a:srgbClr val="000000"/>
                </a:solidFill>
                <a:latin typeface="IBM Plex Sans Medium"/>
                <a:ea typeface="IBM Plex Sans Medium"/>
                <a:cs typeface="IBM Plex Sans Medium"/>
              </a:rPr>
              <a:t>3</a:t>
            </a:r>
            <a:endParaRPr lang="en-US" sz="2100"/>
          </a:p>
        </p:txBody>
      </p:sp>
      <p:sp>
        <p:nvSpPr>
          <p:cNvPr id="1491200892" name="Text 17"/>
          <p:cNvSpPr/>
          <p:nvPr/>
        </p:nvSpPr>
        <p:spPr bwMode="auto">
          <a:xfrm>
            <a:off x="9897427" y="3258979"/>
            <a:ext cx="3058716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  <a:defRPr/>
            </a:pPr>
            <a:r>
              <a:rPr lang="en-US" sz="2200">
                <a:solidFill>
                  <a:srgbClr val="D4D4D1"/>
                </a:solidFill>
                <a:latin typeface="IBM Plex Sans Medium"/>
                <a:ea typeface="IBM Plex Sans Medium"/>
                <a:cs typeface="IBM Plex Sans Medium"/>
              </a:rPr>
              <a:t>Vanilla JavaScript ES6+</a:t>
            </a:r>
            <a:endParaRPr lang="en-US" sz="2200"/>
          </a:p>
        </p:txBody>
      </p:sp>
      <p:sp>
        <p:nvSpPr>
          <p:cNvPr id="1167817558" name="Text 18"/>
          <p:cNvSpPr/>
          <p:nvPr/>
        </p:nvSpPr>
        <p:spPr bwMode="auto">
          <a:xfrm>
            <a:off x="9897427" y="3749397"/>
            <a:ext cx="368177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Чистый код без зависимостей: стрелочные функции, деструктуризация, модули и событийная модель</a:t>
            </a:r>
            <a:endParaRPr lang="en-US" sz="1750"/>
          </a:p>
        </p:txBody>
      </p:sp>
      <p:sp>
        <p:nvSpPr>
          <p:cNvPr id="1141927698" name="Shape 19"/>
          <p:cNvSpPr/>
          <p:nvPr/>
        </p:nvSpPr>
        <p:spPr bwMode="auto">
          <a:xfrm>
            <a:off x="793790" y="5713452"/>
            <a:ext cx="13042821" cy="1326712"/>
          </a:xfrm>
          <a:prstGeom prst="roundRect">
            <a:avLst>
              <a:gd name="adj" fmla="val 2565"/>
            </a:avLst>
          </a:prstGeom>
          <a:solidFill>
            <a:srgbClr val="4D1F00"/>
          </a:solidFill>
          <a:ln/>
        </p:spPr>
      </p:sp>
      <p:pic>
        <p:nvPicPr>
          <p:cNvPr id="1278180612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20604" y="6057543"/>
            <a:ext cx="283488" cy="226814"/>
          </a:xfrm>
          <a:prstGeom prst="rect">
            <a:avLst/>
          </a:prstGeom>
        </p:spPr>
      </p:pic>
      <p:sp>
        <p:nvSpPr>
          <p:cNvPr id="344502592" name="Text 20"/>
          <p:cNvSpPr/>
          <p:nvPr/>
        </p:nvSpPr>
        <p:spPr bwMode="auto">
          <a:xfrm>
            <a:off x="1530906" y="5996940"/>
            <a:ext cx="1207889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 b="1">
                <a:solidFill>
                  <a:srgbClr val="FFFFFF"/>
                </a:solidFill>
                <a:latin typeface="Roboto"/>
                <a:ea typeface="Roboto"/>
                <a:cs typeface="Roboto"/>
              </a:rPr>
              <a:t>Zero Dependencies</a:t>
            </a:r>
            <a:r>
              <a:rPr lang="en-US" sz="175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 — проект работает без внешних библиотек, обеспечивая скорость и полный контроль над кодом</a:t>
            </a:r>
            <a:endParaRPr lang="en-US" sz="1750"/>
          </a:p>
        </p:txBody>
      </p:sp>
      <p:pic>
        <p:nvPicPr>
          <p:cNvPr id="1956995084" name="Рисунок 1956995083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12382499" y="7540624"/>
            <a:ext cx="2228850" cy="65722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5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7767709" name="Text 0"/>
          <p:cNvSpPr/>
          <p:nvPr/>
        </p:nvSpPr>
        <p:spPr bwMode="auto">
          <a:xfrm>
            <a:off x="1176338" y="533757"/>
            <a:ext cx="7130772" cy="6066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750"/>
              </a:lnSpc>
              <a:buNone/>
              <a:defRPr/>
            </a:pPr>
            <a:r>
              <a:rPr lang="en-US" sz="3800">
                <a:solidFill>
                  <a:srgbClr val="F3F3F2"/>
                </a:solidFill>
                <a:latin typeface="IBM Plex Sans Medium"/>
                <a:ea typeface="IBM Plex Sans Medium"/>
                <a:cs typeface="IBM Plex Sans Medium"/>
              </a:rPr>
              <a:t>Алгоритм генерации CSS-кода</a:t>
            </a:r>
            <a:endParaRPr lang="en-US" sz="3800"/>
          </a:p>
        </p:txBody>
      </p:sp>
      <p:pic>
        <p:nvPicPr>
          <p:cNvPr id="512050429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176338" y="1528524"/>
            <a:ext cx="4092535" cy="776407"/>
          </a:xfrm>
          <a:prstGeom prst="rect">
            <a:avLst/>
          </a:prstGeom>
        </p:spPr>
      </p:pic>
      <p:sp>
        <p:nvSpPr>
          <p:cNvPr id="1707036347" name="Text 1"/>
          <p:cNvSpPr/>
          <p:nvPr/>
        </p:nvSpPr>
        <p:spPr bwMode="auto">
          <a:xfrm>
            <a:off x="1370409" y="2499002"/>
            <a:ext cx="2426375" cy="303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  <a:defRPr/>
            </a:pPr>
            <a:r>
              <a:rPr lang="en-US" sz="1900">
                <a:solidFill>
                  <a:srgbClr val="D4D4D1"/>
                </a:solidFill>
                <a:latin typeface="IBM Plex Sans Medium"/>
                <a:ea typeface="IBM Plex Sans Medium"/>
                <a:cs typeface="IBM Plex Sans Medium"/>
              </a:rPr>
              <a:t>Сетка 16×16</a:t>
            </a:r>
            <a:endParaRPr lang="en-US" sz="1900"/>
          </a:p>
        </p:txBody>
      </p:sp>
      <p:sp>
        <p:nvSpPr>
          <p:cNvPr id="1804248948" name="Text 2"/>
          <p:cNvSpPr/>
          <p:nvPr/>
        </p:nvSpPr>
        <p:spPr bwMode="auto">
          <a:xfrm>
            <a:off x="1370409" y="2918698"/>
            <a:ext cx="3704392" cy="62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  <a:defRPr/>
            </a:pPr>
            <a:r>
              <a:rPr lang="en-US" sz="150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Двумерный массив хранит состояние каждой ячейки и её цвет</a:t>
            </a:r>
            <a:endParaRPr lang="en-US" sz="1500"/>
          </a:p>
        </p:txBody>
      </p:sp>
      <p:pic>
        <p:nvPicPr>
          <p:cNvPr id="2049947935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268873" y="1528524"/>
            <a:ext cx="4092535" cy="776407"/>
          </a:xfrm>
          <a:prstGeom prst="rect">
            <a:avLst/>
          </a:prstGeom>
        </p:spPr>
      </p:pic>
      <p:sp>
        <p:nvSpPr>
          <p:cNvPr id="686858161" name="Text 3"/>
          <p:cNvSpPr/>
          <p:nvPr/>
        </p:nvSpPr>
        <p:spPr bwMode="auto">
          <a:xfrm>
            <a:off x="5462945" y="2499002"/>
            <a:ext cx="2426375" cy="303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  <a:defRPr/>
            </a:pPr>
            <a:r>
              <a:rPr lang="en-US" sz="1900">
                <a:solidFill>
                  <a:srgbClr val="D4D4D1"/>
                </a:solidFill>
                <a:latin typeface="IBM Plex Sans Medium"/>
                <a:ea typeface="IBM Plex Sans Medium"/>
                <a:cs typeface="IBM Plex Sans Medium"/>
              </a:rPr>
              <a:t>Расчет координат</a:t>
            </a:r>
            <a:endParaRPr lang="en-US" sz="1900"/>
          </a:p>
        </p:txBody>
      </p:sp>
      <p:sp>
        <p:nvSpPr>
          <p:cNvPr id="278305011" name="Text 4"/>
          <p:cNvSpPr/>
          <p:nvPr/>
        </p:nvSpPr>
        <p:spPr bwMode="auto">
          <a:xfrm>
            <a:off x="5462945" y="2918698"/>
            <a:ext cx="3704392" cy="62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  <a:defRPr/>
            </a:pPr>
            <a:r>
              <a:rPr lang="en-US" sz="150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Математическое вычисление позиций X и Y для каждого закрашенного пикселя</a:t>
            </a:r>
            <a:endParaRPr lang="en-US" sz="1500"/>
          </a:p>
        </p:txBody>
      </p:sp>
      <p:pic>
        <p:nvPicPr>
          <p:cNvPr id="341447026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9361407" y="1528524"/>
            <a:ext cx="4092535" cy="776407"/>
          </a:xfrm>
          <a:prstGeom prst="rect">
            <a:avLst/>
          </a:prstGeom>
        </p:spPr>
      </p:pic>
      <p:sp>
        <p:nvSpPr>
          <p:cNvPr id="181860928" name="Text 5"/>
          <p:cNvSpPr/>
          <p:nvPr/>
        </p:nvSpPr>
        <p:spPr bwMode="auto">
          <a:xfrm>
            <a:off x="9555480" y="2499002"/>
            <a:ext cx="2634139" cy="303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  <a:defRPr/>
            </a:pPr>
            <a:r>
              <a:rPr lang="en-US" sz="1900">
                <a:solidFill>
                  <a:srgbClr val="D4D4D1"/>
                </a:solidFill>
                <a:latin typeface="IBM Plex Sans Medium"/>
                <a:ea typeface="IBM Plex Sans Medium"/>
                <a:cs typeface="IBM Plex Sans Medium"/>
              </a:rPr>
              <a:t>Генерация box-shadow</a:t>
            </a:r>
            <a:endParaRPr lang="en-US" sz="1900"/>
          </a:p>
        </p:txBody>
      </p:sp>
      <p:sp>
        <p:nvSpPr>
          <p:cNvPr id="1886777404" name="Text 6"/>
          <p:cNvSpPr/>
          <p:nvPr/>
        </p:nvSpPr>
        <p:spPr bwMode="auto">
          <a:xfrm>
            <a:off x="9555480" y="2918698"/>
            <a:ext cx="3704392" cy="931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  <a:defRPr/>
            </a:pPr>
            <a:r>
              <a:rPr lang="en-US" sz="150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Формирование CSS-строки с множественными тенями для всех активных точек</a:t>
            </a:r>
            <a:endParaRPr lang="en-US" sz="1500"/>
          </a:p>
        </p:txBody>
      </p:sp>
      <p:sp>
        <p:nvSpPr>
          <p:cNvPr id="1398691784" name="Shape 7"/>
          <p:cNvSpPr/>
          <p:nvPr/>
        </p:nvSpPr>
        <p:spPr bwMode="auto">
          <a:xfrm>
            <a:off x="1176338" y="4359663"/>
            <a:ext cx="12277725" cy="31790"/>
          </a:xfrm>
          <a:prstGeom prst="rect">
            <a:avLst/>
          </a:prstGeom>
          <a:solidFill>
            <a:srgbClr val="D4D4D1">
              <a:alpha val="50000"/>
            </a:srgbClr>
          </a:solidFill>
          <a:ln/>
        </p:spPr>
      </p:sp>
      <p:sp>
        <p:nvSpPr>
          <p:cNvPr id="1384168288" name="Text 8"/>
          <p:cNvSpPr/>
          <p:nvPr/>
        </p:nvSpPr>
        <p:spPr bwMode="auto">
          <a:xfrm>
            <a:off x="1176338" y="4803815"/>
            <a:ext cx="2426375" cy="303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  <a:defRPr/>
            </a:pPr>
            <a:r>
              <a:rPr lang="en-US" sz="1900">
                <a:solidFill>
                  <a:srgbClr val="F3F3F2"/>
                </a:solidFill>
                <a:latin typeface="IBM Plex Sans Medium"/>
                <a:ea typeface="IBM Plex Sans Medium"/>
                <a:cs typeface="IBM Plex Sans Medium"/>
              </a:rPr>
              <a:t>Входные данные</a:t>
            </a:r>
            <a:endParaRPr lang="en-US" sz="1900"/>
          </a:p>
        </p:txBody>
      </p:sp>
      <p:sp>
        <p:nvSpPr>
          <p:cNvPr id="1128202043" name="Shape 9"/>
          <p:cNvSpPr/>
          <p:nvPr/>
        </p:nvSpPr>
        <p:spPr bwMode="auto">
          <a:xfrm>
            <a:off x="1176338" y="5325428"/>
            <a:ext cx="5902047" cy="1843564"/>
          </a:xfrm>
          <a:prstGeom prst="roundRect">
            <a:avLst>
              <a:gd name="adj" fmla="val 1579"/>
            </a:avLst>
          </a:prstGeom>
          <a:solidFill>
            <a:srgbClr val="36393F"/>
          </a:solidFill>
          <a:ln/>
        </p:spPr>
      </p:sp>
      <p:sp>
        <p:nvSpPr>
          <p:cNvPr id="78883683" name="Shape 10"/>
          <p:cNvSpPr/>
          <p:nvPr/>
        </p:nvSpPr>
        <p:spPr bwMode="auto">
          <a:xfrm>
            <a:off x="1166693" y="5325428"/>
            <a:ext cx="5921335" cy="1843564"/>
          </a:xfrm>
          <a:prstGeom prst="roundRect">
            <a:avLst>
              <a:gd name="adj" fmla="val 1579"/>
            </a:avLst>
          </a:prstGeom>
          <a:solidFill>
            <a:srgbClr val="36393F"/>
          </a:solidFill>
          <a:ln/>
        </p:spPr>
      </p:sp>
      <p:sp>
        <p:nvSpPr>
          <p:cNvPr id="368100112" name="Text 11"/>
          <p:cNvSpPr/>
          <p:nvPr/>
        </p:nvSpPr>
        <p:spPr bwMode="auto">
          <a:xfrm>
            <a:off x="1360765" y="5470922"/>
            <a:ext cx="5533192" cy="1552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  <a:defRPr/>
            </a:pPr>
            <a:r>
              <a:rPr lang="en-US" sz="1500">
                <a:solidFill>
                  <a:srgbClr val="D4D4D1"/>
                </a:solidFill>
                <a:highlight>
                  <a:srgbClr val="36393F"/>
                </a:highlight>
                <a:latin typeface="Consolas"/>
                <a:ea typeface="Consolas"/>
                <a:cs typeface="Consolas"/>
              </a:rPr>
              <a:t>grid = [</a:t>
            </a:r>
            <a:endParaRPr lang="en-US" sz="1500"/>
          </a:p>
          <a:p>
            <a:pPr marL="0" indent="0" algn="l">
              <a:lnSpc>
                <a:spcPts val="2400"/>
              </a:lnSpc>
              <a:buNone/>
              <a:defRPr/>
            </a:pPr>
            <a:r>
              <a:rPr lang="en-US" sz="1500">
                <a:solidFill>
                  <a:srgbClr val="D4D4D1"/>
                </a:solidFill>
                <a:highlight>
                  <a:srgbClr val="36393F"/>
                </a:highlight>
                <a:latin typeface="Consolas"/>
                <a:ea typeface="Consolas"/>
                <a:cs typeface="Consolas"/>
              </a:rPr>
              <a:t>  [0,1,0],</a:t>
            </a:r>
            <a:endParaRPr lang="en-US" sz="1500"/>
          </a:p>
          <a:p>
            <a:pPr marL="0" indent="0" algn="l">
              <a:lnSpc>
                <a:spcPts val="2400"/>
              </a:lnSpc>
              <a:buNone/>
              <a:defRPr/>
            </a:pPr>
            <a:r>
              <a:rPr lang="en-US" sz="1500">
                <a:solidFill>
                  <a:srgbClr val="D4D4D1"/>
                </a:solidFill>
                <a:highlight>
                  <a:srgbClr val="36393F"/>
                </a:highlight>
                <a:latin typeface="Consolas"/>
                <a:ea typeface="Consolas"/>
                <a:cs typeface="Consolas"/>
              </a:rPr>
              <a:t>  [1,1,1],</a:t>
            </a:r>
            <a:endParaRPr lang="en-US" sz="1500"/>
          </a:p>
          <a:p>
            <a:pPr marL="0" indent="0" algn="l">
              <a:lnSpc>
                <a:spcPts val="2400"/>
              </a:lnSpc>
              <a:buNone/>
              <a:defRPr/>
            </a:pPr>
            <a:r>
              <a:rPr lang="en-US" sz="1500">
                <a:solidFill>
                  <a:srgbClr val="D4D4D1"/>
                </a:solidFill>
                <a:highlight>
                  <a:srgbClr val="36393F"/>
                </a:highlight>
                <a:latin typeface="Consolas"/>
                <a:ea typeface="Consolas"/>
                <a:cs typeface="Consolas"/>
              </a:rPr>
              <a:t>  [0,1,0]</a:t>
            </a:r>
            <a:endParaRPr lang="en-US" sz="1500"/>
          </a:p>
          <a:p>
            <a:pPr marL="0" indent="0" algn="l">
              <a:lnSpc>
                <a:spcPts val="2400"/>
              </a:lnSpc>
              <a:buNone/>
              <a:defRPr/>
            </a:pPr>
            <a:r>
              <a:rPr lang="en-US" sz="1500">
                <a:solidFill>
                  <a:srgbClr val="D4D4D1"/>
                </a:solidFill>
                <a:highlight>
                  <a:srgbClr val="36393F"/>
                </a:highlight>
                <a:latin typeface="Consolas"/>
                <a:ea typeface="Consolas"/>
                <a:cs typeface="Consolas"/>
              </a:rPr>
              <a:t>]</a:t>
            </a:r>
            <a:endParaRPr lang="en-US" sz="1500"/>
          </a:p>
        </p:txBody>
      </p:sp>
      <p:sp>
        <p:nvSpPr>
          <p:cNvPr id="504190404" name="Text 12"/>
          <p:cNvSpPr/>
          <p:nvPr/>
        </p:nvSpPr>
        <p:spPr bwMode="auto">
          <a:xfrm>
            <a:off x="7559635" y="4803815"/>
            <a:ext cx="2426375" cy="303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  <a:defRPr/>
            </a:pPr>
            <a:r>
              <a:rPr lang="en-US" sz="1900">
                <a:solidFill>
                  <a:srgbClr val="F3F3F2"/>
                </a:solidFill>
                <a:latin typeface="IBM Plex Sans Medium"/>
                <a:ea typeface="IBM Plex Sans Medium"/>
                <a:cs typeface="IBM Plex Sans Medium"/>
              </a:rPr>
              <a:t>Результат</a:t>
            </a:r>
            <a:endParaRPr lang="en-US" sz="1900"/>
          </a:p>
        </p:txBody>
      </p:sp>
      <p:sp>
        <p:nvSpPr>
          <p:cNvPr id="1109652532" name="Shape 13"/>
          <p:cNvSpPr/>
          <p:nvPr/>
        </p:nvSpPr>
        <p:spPr bwMode="auto">
          <a:xfrm>
            <a:off x="7559635" y="5325428"/>
            <a:ext cx="5902047" cy="2154079"/>
          </a:xfrm>
          <a:prstGeom prst="roundRect">
            <a:avLst>
              <a:gd name="adj" fmla="val 1352"/>
            </a:avLst>
          </a:prstGeom>
          <a:solidFill>
            <a:srgbClr val="36393F"/>
          </a:solidFill>
          <a:ln/>
        </p:spPr>
      </p:sp>
      <p:sp>
        <p:nvSpPr>
          <p:cNvPr id="449348038" name="Shape 14"/>
          <p:cNvSpPr/>
          <p:nvPr/>
        </p:nvSpPr>
        <p:spPr bwMode="auto">
          <a:xfrm>
            <a:off x="7549991" y="5325428"/>
            <a:ext cx="5921335" cy="2154079"/>
          </a:xfrm>
          <a:prstGeom prst="roundRect">
            <a:avLst>
              <a:gd name="adj" fmla="val 1352"/>
            </a:avLst>
          </a:prstGeom>
          <a:solidFill>
            <a:srgbClr val="36393F"/>
          </a:solidFill>
          <a:ln/>
        </p:spPr>
      </p:sp>
      <p:sp>
        <p:nvSpPr>
          <p:cNvPr id="1129671365" name="Text 15"/>
          <p:cNvSpPr/>
          <p:nvPr/>
        </p:nvSpPr>
        <p:spPr bwMode="auto">
          <a:xfrm>
            <a:off x="7744063" y="5470922"/>
            <a:ext cx="5533192" cy="1863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  <a:defRPr/>
            </a:pPr>
            <a:r>
              <a:rPr lang="en-US" sz="1500">
                <a:solidFill>
                  <a:srgbClr val="D4D4D1"/>
                </a:solidFill>
                <a:highlight>
                  <a:srgbClr val="36393F"/>
                </a:highlight>
                <a:latin typeface="Consolas"/>
                <a:ea typeface="Consolas"/>
                <a:cs typeface="Consolas"/>
              </a:rPr>
              <a:t>box-shadow:</a:t>
            </a:r>
            <a:endParaRPr lang="en-US" sz="1500"/>
          </a:p>
          <a:p>
            <a:pPr marL="0" indent="0" algn="l">
              <a:lnSpc>
                <a:spcPts val="2400"/>
              </a:lnSpc>
              <a:buNone/>
              <a:defRPr/>
            </a:pPr>
            <a:r>
              <a:rPr lang="en-US" sz="1500">
                <a:solidFill>
                  <a:srgbClr val="D4D4D1"/>
                </a:solidFill>
                <a:highlight>
                  <a:srgbClr val="36393F"/>
                </a:highlight>
                <a:latin typeface="Consolas"/>
                <a:ea typeface="Consolas"/>
                <a:cs typeface="Consolas"/>
              </a:rPr>
              <a:t> 10px 0px 0 5px #000,</a:t>
            </a:r>
            <a:endParaRPr lang="en-US" sz="1500"/>
          </a:p>
          <a:p>
            <a:pPr marL="0" indent="0" algn="l">
              <a:lnSpc>
                <a:spcPts val="2400"/>
              </a:lnSpc>
              <a:buNone/>
              <a:defRPr/>
            </a:pPr>
            <a:r>
              <a:rPr lang="en-US" sz="1500">
                <a:solidFill>
                  <a:srgbClr val="D4D4D1"/>
                </a:solidFill>
                <a:highlight>
                  <a:srgbClr val="36393F"/>
                </a:highlight>
                <a:latin typeface="Consolas"/>
                <a:ea typeface="Consolas"/>
                <a:cs typeface="Consolas"/>
              </a:rPr>
              <a:t> 0px 10px 0 5px #000,</a:t>
            </a:r>
            <a:endParaRPr lang="en-US" sz="1500"/>
          </a:p>
          <a:p>
            <a:pPr marL="0" indent="0" algn="l">
              <a:lnSpc>
                <a:spcPts val="2400"/>
              </a:lnSpc>
              <a:buNone/>
              <a:defRPr/>
            </a:pPr>
            <a:r>
              <a:rPr lang="en-US" sz="1500">
                <a:solidFill>
                  <a:srgbClr val="D4D4D1"/>
                </a:solidFill>
                <a:highlight>
                  <a:srgbClr val="36393F"/>
                </a:highlight>
                <a:latin typeface="Consolas"/>
                <a:ea typeface="Consolas"/>
                <a:cs typeface="Consolas"/>
              </a:rPr>
              <a:t> 10px 10px 0 5px #000,</a:t>
            </a:r>
            <a:endParaRPr lang="en-US" sz="1500"/>
          </a:p>
          <a:p>
            <a:pPr marL="0" indent="0" algn="l">
              <a:lnSpc>
                <a:spcPts val="2400"/>
              </a:lnSpc>
              <a:buNone/>
              <a:defRPr/>
            </a:pPr>
            <a:r>
              <a:rPr lang="en-US" sz="1500">
                <a:solidFill>
                  <a:srgbClr val="D4D4D1"/>
                </a:solidFill>
                <a:highlight>
                  <a:srgbClr val="36393F"/>
                </a:highlight>
                <a:latin typeface="Consolas"/>
                <a:ea typeface="Consolas"/>
                <a:cs typeface="Consolas"/>
              </a:rPr>
              <a:t> 20px 10px 0 5px #000,</a:t>
            </a:r>
            <a:endParaRPr lang="en-US" sz="1500"/>
          </a:p>
          <a:p>
            <a:pPr marL="0" indent="0" algn="l">
              <a:lnSpc>
                <a:spcPts val="2400"/>
              </a:lnSpc>
              <a:buNone/>
              <a:defRPr/>
            </a:pPr>
            <a:r>
              <a:rPr lang="en-US" sz="1500">
                <a:solidFill>
                  <a:srgbClr val="D4D4D1"/>
                </a:solidFill>
                <a:highlight>
                  <a:srgbClr val="36393F"/>
                </a:highlight>
                <a:latin typeface="Consolas"/>
                <a:ea typeface="Consolas"/>
                <a:cs typeface="Consolas"/>
              </a:rPr>
              <a:t> 10px 20px 0 5px #000;</a:t>
            </a:r>
            <a:endParaRPr lang="en-US" sz="1500"/>
          </a:p>
        </p:txBody>
      </p:sp>
      <p:pic>
        <p:nvPicPr>
          <p:cNvPr id="478222775" name="Рисунок 478222774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12280446" y="7540624"/>
            <a:ext cx="2228850" cy="65722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6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0722887" name="Text 0"/>
          <p:cNvSpPr/>
          <p:nvPr/>
        </p:nvSpPr>
        <p:spPr bwMode="auto">
          <a:xfrm>
            <a:off x="793790" y="1240036"/>
            <a:ext cx="862203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  <a:defRPr/>
            </a:pPr>
            <a:r>
              <a:rPr lang="en-US" sz="4450">
                <a:solidFill>
                  <a:srgbClr val="F3F3F2"/>
                </a:solidFill>
                <a:latin typeface="IBM Plex Sans Medium"/>
                <a:ea typeface="IBM Plex Sans Medium"/>
                <a:cs typeface="IBM Plex Sans Medium"/>
              </a:rPr>
              <a:t>Функциональные возможности</a:t>
            </a:r>
            <a:endParaRPr lang="en-US" sz="4450"/>
          </a:p>
        </p:txBody>
      </p:sp>
      <p:pic>
        <p:nvPicPr>
          <p:cNvPr id="1504519607" name="Image 0" descr="preencoded.png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/>
        </p:blipFill>
        <p:spPr bwMode="auto">
          <a:xfrm>
            <a:off x="793790" y="2402442"/>
            <a:ext cx="566976" cy="566976"/>
          </a:xfrm>
          <a:prstGeom prst="rect">
            <a:avLst/>
          </a:prstGeom>
        </p:spPr>
      </p:pic>
      <p:sp>
        <p:nvSpPr>
          <p:cNvPr id="2048962777" name="Text 1"/>
          <p:cNvSpPr/>
          <p:nvPr/>
        </p:nvSpPr>
        <p:spPr bwMode="auto">
          <a:xfrm>
            <a:off x="793790" y="325290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  <a:defRPr/>
            </a:pPr>
            <a:r>
              <a:rPr lang="en-US" sz="2200">
                <a:solidFill>
                  <a:srgbClr val="D4D4D1"/>
                </a:solidFill>
                <a:latin typeface="IBM Plex Sans Medium"/>
                <a:ea typeface="IBM Plex Sans Medium"/>
                <a:cs typeface="IBM Plex Sans Medium"/>
              </a:rPr>
              <a:t>Рисование</a:t>
            </a:r>
            <a:endParaRPr lang="en-US" sz="2200"/>
          </a:p>
        </p:txBody>
      </p:sp>
      <p:sp>
        <p:nvSpPr>
          <p:cNvPr id="919460768" name="Text 2"/>
          <p:cNvSpPr/>
          <p:nvPr/>
        </p:nvSpPr>
        <p:spPr bwMode="auto">
          <a:xfrm>
            <a:off x="793790" y="3743325"/>
            <a:ext cx="6379607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Интуитивное рисование левой кнопкой мыши с поддержкой drag-событий для непрерывных линий</a:t>
            </a:r>
            <a:endParaRPr lang="en-US" sz="1750"/>
          </a:p>
        </p:txBody>
      </p:sp>
      <p:pic>
        <p:nvPicPr>
          <p:cNvPr id="810842626" name="Image 1" descr="preencoded.png"/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/>
        </p:blipFill>
        <p:spPr bwMode="auto">
          <a:xfrm>
            <a:off x="7456884" y="2402442"/>
            <a:ext cx="566976" cy="566976"/>
          </a:xfrm>
          <a:prstGeom prst="rect">
            <a:avLst/>
          </a:prstGeom>
        </p:spPr>
      </p:pic>
      <p:sp>
        <p:nvSpPr>
          <p:cNvPr id="1354135834" name="Text 3"/>
          <p:cNvSpPr/>
          <p:nvPr/>
        </p:nvSpPr>
        <p:spPr bwMode="auto">
          <a:xfrm>
            <a:off x="7456884" y="325290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  <a:defRPr/>
            </a:pPr>
            <a:r>
              <a:rPr lang="en-US" sz="2200">
                <a:solidFill>
                  <a:srgbClr val="D4D4D1"/>
                </a:solidFill>
                <a:latin typeface="IBM Plex Sans Medium"/>
                <a:ea typeface="IBM Plex Sans Medium"/>
                <a:cs typeface="IBM Plex Sans Medium"/>
              </a:rPr>
              <a:t>Ластик</a:t>
            </a:r>
            <a:endParaRPr lang="en-US" sz="2200"/>
          </a:p>
        </p:txBody>
      </p:sp>
      <p:sp>
        <p:nvSpPr>
          <p:cNvPr id="1284813517" name="Text 4"/>
          <p:cNvSpPr/>
          <p:nvPr/>
        </p:nvSpPr>
        <p:spPr bwMode="auto">
          <a:xfrm>
            <a:off x="7456884" y="3743325"/>
            <a:ext cx="637972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Удаление пикселей правой кнопкой мыши с блокировкой контекстного меню для удобства работы</a:t>
            </a:r>
            <a:endParaRPr lang="en-US" sz="1750"/>
          </a:p>
        </p:txBody>
      </p:sp>
      <p:pic>
        <p:nvPicPr>
          <p:cNvPr id="133848874" name="Image 2" descr="preencoded.png"/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tretch/>
        </p:blipFill>
        <p:spPr bwMode="auto">
          <a:xfrm>
            <a:off x="793790" y="4922758"/>
            <a:ext cx="566976" cy="566976"/>
          </a:xfrm>
          <a:prstGeom prst="rect">
            <a:avLst/>
          </a:prstGeom>
        </p:spPr>
      </p:pic>
      <p:sp>
        <p:nvSpPr>
          <p:cNvPr id="1174923484" name="Text 5"/>
          <p:cNvSpPr/>
          <p:nvPr/>
        </p:nvSpPr>
        <p:spPr bwMode="auto">
          <a:xfrm>
            <a:off x="793790" y="577322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  <a:defRPr/>
            </a:pPr>
            <a:r>
              <a:rPr lang="en-US" sz="2200">
                <a:solidFill>
                  <a:srgbClr val="D4D4D1"/>
                </a:solidFill>
                <a:latin typeface="IBM Plex Sans Medium"/>
                <a:ea typeface="IBM Plex Sans Medium"/>
                <a:cs typeface="IBM Plex Sans Medium"/>
              </a:rPr>
              <a:t>Выбор цвета</a:t>
            </a:r>
            <a:endParaRPr lang="en-US" sz="2200"/>
          </a:p>
        </p:txBody>
      </p:sp>
      <p:sp>
        <p:nvSpPr>
          <p:cNvPr id="579636798" name="Text 6"/>
          <p:cNvSpPr/>
          <p:nvPr/>
        </p:nvSpPr>
        <p:spPr bwMode="auto">
          <a:xfrm>
            <a:off x="793790" y="6263640"/>
            <a:ext cx="6379607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Встроенный Color Picker с поддержкой HEX, RGB и HSL для точного подбора оттенков</a:t>
            </a:r>
            <a:endParaRPr lang="en-US" sz="1750"/>
          </a:p>
        </p:txBody>
      </p:sp>
      <p:pic>
        <p:nvPicPr>
          <p:cNvPr id="1758615195" name="Image 3" descr="preencoded.png"/>
          <p:cNvPicPr>
            <a:picLocks noChangeAspect="1"/>
          </p:cNvPicPr>
          <p:nvPr/>
        </p:nvPicPr>
        <p:blipFill rotWithShape="1"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tretch/>
        </p:blipFill>
        <p:spPr bwMode="auto">
          <a:xfrm>
            <a:off x="7456884" y="4922758"/>
            <a:ext cx="566976" cy="566976"/>
          </a:xfrm>
          <a:prstGeom prst="rect">
            <a:avLst/>
          </a:prstGeom>
        </p:spPr>
      </p:pic>
      <p:sp>
        <p:nvSpPr>
          <p:cNvPr id="2096473842" name="Text 7"/>
          <p:cNvSpPr/>
          <p:nvPr/>
        </p:nvSpPr>
        <p:spPr bwMode="auto">
          <a:xfrm>
            <a:off x="7456884" y="577322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  <a:defRPr/>
            </a:pPr>
            <a:r>
              <a:rPr lang="en-US" sz="2200">
                <a:solidFill>
                  <a:srgbClr val="D4D4D1"/>
                </a:solidFill>
                <a:latin typeface="IBM Plex Sans Medium"/>
                <a:ea typeface="IBM Plex Sans Medium"/>
                <a:cs typeface="IBM Plex Sans Medium"/>
              </a:rPr>
              <a:t>Live Preview</a:t>
            </a:r>
            <a:endParaRPr lang="en-US" sz="2200"/>
          </a:p>
        </p:txBody>
      </p:sp>
      <p:sp>
        <p:nvSpPr>
          <p:cNvPr id="1476828769" name="Text 8"/>
          <p:cNvSpPr/>
          <p:nvPr/>
        </p:nvSpPr>
        <p:spPr bwMode="auto">
          <a:xfrm>
            <a:off x="7456884" y="6263640"/>
            <a:ext cx="637972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Мгновенная генерация и превью CSS-кода в реальном времени при каждом изменении холста</a:t>
            </a:r>
            <a:endParaRPr lang="en-US" sz="1750"/>
          </a:p>
        </p:txBody>
      </p:sp>
      <p:pic>
        <p:nvPicPr>
          <p:cNvPr id="1932312234" name="Рисунок 1932312233"/>
          <p:cNvPicPr>
            <a:picLocks noChangeAspect="1"/>
          </p:cNvPicPr>
          <p:nvPr/>
        </p:nvPicPr>
        <p:blipFill rotWithShape="1">
          <a:blip r:embed="rId11"/>
          <a:stretch/>
        </p:blipFill>
        <p:spPr bwMode="auto">
          <a:xfrm>
            <a:off x="12393839" y="7517946"/>
            <a:ext cx="2228850" cy="65722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7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9488225" name="Shape 0"/>
          <p:cNvSpPr/>
          <p:nvPr/>
        </p:nvSpPr>
        <p:spPr bwMode="auto">
          <a:xfrm>
            <a:off x="1693544" y="488752"/>
            <a:ext cx="1368266" cy="333851"/>
          </a:xfrm>
          <a:prstGeom prst="roundRect">
            <a:avLst>
              <a:gd name="adj" fmla="val 6389"/>
            </a:avLst>
          </a:prstGeom>
          <a:solidFill>
            <a:srgbClr val="4D1F00"/>
          </a:solidFill>
          <a:ln/>
        </p:spPr>
      </p:sp>
      <p:sp>
        <p:nvSpPr>
          <p:cNvPr id="203695680" name="Text 1"/>
          <p:cNvSpPr/>
          <p:nvPr/>
        </p:nvSpPr>
        <p:spPr bwMode="auto">
          <a:xfrm>
            <a:off x="1800106" y="541972"/>
            <a:ext cx="1155144" cy="2274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  <a:defRPr/>
            </a:pPr>
            <a:r>
              <a:rPr lang="en-US" sz="110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ДЕМОНСТРАЦИЯ</a:t>
            </a:r>
            <a:endParaRPr lang="en-US" sz="1100"/>
          </a:p>
        </p:txBody>
      </p:sp>
      <p:sp>
        <p:nvSpPr>
          <p:cNvPr id="1950599178" name="Text 2"/>
          <p:cNvSpPr/>
          <p:nvPr/>
        </p:nvSpPr>
        <p:spPr bwMode="auto">
          <a:xfrm>
            <a:off x="1693544" y="1200150"/>
            <a:ext cx="5159216" cy="555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350"/>
              </a:lnSpc>
              <a:buNone/>
              <a:defRPr/>
            </a:pPr>
            <a:r>
              <a:rPr lang="en-US" sz="3450">
                <a:solidFill>
                  <a:srgbClr val="F3F3F2"/>
                </a:solidFill>
                <a:latin typeface="IBM Plex Sans Medium"/>
                <a:ea typeface="IBM Plex Sans Medium"/>
                <a:cs typeface="IBM Plex Sans Medium"/>
              </a:rPr>
              <a:t>Интерфейс приложения</a:t>
            </a:r>
            <a:endParaRPr lang="en-US" sz="3450"/>
          </a:p>
        </p:txBody>
      </p:sp>
      <p:pic>
        <p:nvPicPr>
          <p:cNvPr id="1677860502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8123396" y="1222415"/>
            <a:ext cx="4820841" cy="3450431"/>
          </a:xfrm>
          <a:prstGeom prst="rect">
            <a:avLst/>
          </a:prstGeom>
        </p:spPr>
      </p:pic>
      <p:sp>
        <p:nvSpPr>
          <p:cNvPr id="1483459230" name="Text 3"/>
          <p:cNvSpPr/>
          <p:nvPr/>
        </p:nvSpPr>
        <p:spPr bwMode="auto">
          <a:xfrm>
            <a:off x="1693544" y="5072658"/>
            <a:ext cx="177641" cy="222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  <a:defRPr/>
            </a:pPr>
            <a:r>
              <a:rPr lang="en-US" sz="1350">
                <a:solidFill>
                  <a:srgbClr val="D4D4D1"/>
                </a:solidFill>
                <a:latin typeface="IBM Plex Sans Light"/>
                <a:ea typeface="IBM Plex Sans Light"/>
                <a:cs typeface="IBM Plex Sans Light"/>
              </a:rPr>
              <a:t>01</a:t>
            </a:r>
            <a:endParaRPr lang="en-US" sz="1350"/>
          </a:p>
        </p:txBody>
      </p:sp>
      <p:sp>
        <p:nvSpPr>
          <p:cNvPr id="725610951" name="Shape 4"/>
          <p:cNvSpPr/>
          <p:nvPr/>
        </p:nvSpPr>
        <p:spPr bwMode="auto">
          <a:xfrm>
            <a:off x="1693544" y="5351859"/>
            <a:ext cx="3629262" cy="22860"/>
          </a:xfrm>
          <a:prstGeom prst="rect">
            <a:avLst/>
          </a:prstGeom>
          <a:solidFill>
            <a:srgbClr val="FFBC8F"/>
          </a:solidFill>
          <a:ln/>
        </p:spPr>
      </p:sp>
      <p:sp>
        <p:nvSpPr>
          <p:cNvPr id="1394581341" name="Text 5"/>
          <p:cNvSpPr/>
          <p:nvPr/>
        </p:nvSpPr>
        <p:spPr bwMode="auto">
          <a:xfrm>
            <a:off x="1693544" y="5486400"/>
            <a:ext cx="2230398" cy="2776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  <a:defRPr/>
            </a:pPr>
            <a:r>
              <a:rPr lang="en-US" sz="1700">
                <a:solidFill>
                  <a:srgbClr val="D4D4D1"/>
                </a:solidFill>
                <a:latin typeface="IBM Plex Sans Medium"/>
                <a:ea typeface="IBM Plex Sans Medium"/>
                <a:cs typeface="IBM Plex Sans Medium"/>
              </a:rPr>
              <a:t>Рисование смайлика</a:t>
            </a:r>
            <a:endParaRPr lang="en-US" sz="1700"/>
          </a:p>
        </p:txBody>
      </p:sp>
      <p:sp>
        <p:nvSpPr>
          <p:cNvPr id="1855859971" name="Text 6"/>
          <p:cNvSpPr/>
          <p:nvPr/>
        </p:nvSpPr>
        <p:spPr bwMode="auto">
          <a:xfrm>
            <a:off x="1693544" y="5870615"/>
            <a:ext cx="3629262" cy="852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  <a:defRPr/>
            </a:pPr>
            <a:r>
              <a:rPr lang="en-US" sz="13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Создание простого emoji на сетке 16×16 пикселей с использованием желтого цвета</a:t>
            </a:r>
            <a:endParaRPr lang="en-US" sz="1350"/>
          </a:p>
        </p:txBody>
      </p:sp>
      <p:sp>
        <p:nvSpPr>
          <p:cNvPr id="367093685" name="Text 7"/>
          <p:cNvSpPr/>
          <p:nvPr/>
        </p:nvSpPr>
        <p:spPr bwMode="auto">
          <a:xfrm>
            <a:off x="5500448" y="5072658"/>
            <a:ext cx="177641" cy="222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  <a:defRPr/>
            </a:pPr>
            <a:r>
              <a:rPr lang="en-US" sz="1350">
                <a:solidFill>
                  <a:srgbClr val="D4D4D1"/>
                </a:solidFill>
                <a:latin typeface="IBM Plex Sans Light"/>
                <a:ea typeface="IBM Plex Sans Light"/>
                <a:cs typeface="IBM Plex Sans Light"/>
              </a:rPr>
              <a:t>02</a:t>
            </a:r>
            <a:endParaRPr lang="en-US" sz="1350"/>
          </a:p>
        </p:txBody>
      </p:sp>
      <p:sp>
        <p:nvSpPr>
          <p:cNvPr id="1066380968" name="Shape 8"/>
          <p:cNvSpPr/>
          <p:nvPr/>
        </p:nvSpPr>
        <p:spPr bwMode="auto">
          <a:xfrm>
            <a:off x="5500448" y="5351859"/>
            <a:ext cx="3629262" cy="22860"/>
          </a:xfrm>
          <a:prstGeom prst="rect">
            <a:avLst/>
          </a:prstGeom>
          <a:solidFill>
            <a:srgbClr val="FFBC8F"/>
          </a:solidFill>
          <a:ln/>
        </p:spPr>
      </p:sp>
      <p:sp>
        <p:nvSpPr>
          <p:cNvPr id="467978466" name="Text 9"/>
          <p:cNvSpPr/>
          <p:nvPr/>
        </p:nvSpPr>
        <p:spPr bwMode="auto">
          <a:xfrm>
            <a:off x="5500448" y="5486400"/>
            <a:ext cx="2221944" cy="2776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  <a:defRPr/>
            </a:pPr>
            <a:r>
              <a:rPr lang="en-US" sz="1700">
                <a:solidFill>
                  <a:srgbClr val="D4D4D1"/>
                </a:solidFill>
                <a:latin typeface="IBM Plex Sans Medium"/>
                <a:ea typeface="IBM Plex Sans Medium"/>
                <a:cs typeface="IBM Plex Sans Medium"/>
              </a:rPr>
              <a:t>Генерация кода</a:t>
            </a:r>
            <a:endParaRPr lang="en-US" sz="1700"/>
          </a:p>
        </p:txBody>
      </p:sp>
      <p:sp>
        <p:nvSpPr>
          <p:cNvPr id="1014553495" name="Text 10"/>
          <p:cNvSpPr/>
          <p:nvPr/>
        </p:nvSpPr>
        <p:spPr bwMode="auto">
          <a:xfrm>
            <a:off x="5500448" y="5870615"/>
            <a:ext cx="3629262" cy="5686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  <a:defRPr/>
            </a:pPr>
            <a:r>
              <a:rPr lang="en-US" sz="13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Автоматическое формирование строки box-shadow из 12 закрашенных пикселей</a:t>
            </a:r>
            <a:endParaRPr lang="en-US" sz="1350"/>
          </a:p>
        </p:txBody>
      </p:sp>
      <p:sp>
        <p:nvSpPr>
          <p:cNvPr id="872320586" name="Text 11"/>
          <p:cNvSpPr/>
          <p:nvPr/>
        </p:nvSpPr>
        <p:spPr bwMode="auto">
          <a:xfrm>
            <a:off x="9307354" y="5072658"/>
            <a:ext cx="177641" cy="222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  <a:defRPr/>
            </a:pPr>
            <a:r>
              <a:rPr lang="en-US" sz="1350">
                <a:solidFill>
                  <a:srgbClr val="D4D4D1"/>
                </a:solidFill>
                <a:latin typeface="IBM Plex Sans Light"/>
                <a:ea typeface="IBM Plex Sans Light"/>
                <a:cs typeface="IBM Plex Sans Light"/>
              </a:rPr>
              <a:t>03</a:t>
            </a:r>
            <a:endParaRPr lang="en-US" sz="1350"/>
          </a:p>
        </p:txBody>
      </p:sp>
      <p:sp>
        <p:nvSpPr>
          <p:cNvPr id="732061204" name="Shape 12"/>
          <p:cNvSpPr/>
          <p:nvPr/>
        </p:nvSpPr>
        <p:spPr bwMode="auto">
          <a:xfrm>
            <a:off x="9307354" y="5351859"/>
            <a:ext cx="3629382" cy="22860"/>
          </a:xfrm>
          <a:prstGeom prst="rect">
            <a:avLst/>
          </a:prstGeom>
          <a:solidFill>
            <a:srgbClr val="FFBC8F"/>
          </a:solidFill>
          <a:ln/>
        </p:spPr>
      </p:sp>
      <p:sp>
        <p:nvSpPr>
          <p:cNvPr id="366980321" name="Text 13"/>
          <p:cNvSpPr/>
          <p:nvPr/>
        </p:nvSpPr>
        <p:spPr bwMode="auto">
          <a:xfrm>
            <a:off x="9307354" y="5486400"/>
            <a:ext cx="2317790" cy="2776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  <a:defRPr/>
            </a:pPr>
            <a:r>
              <a:rPr lang="en-US" sz="1700">
                <a:solidFill>
                  <a:srgbClr val="D4D4D1"/>
                </a:solidFill>
                <a:latin typeface="IBM Plex Sans Medium"/>
                <a:ea typeface="IBM Plex Sans Medium"/>
                <a:cs typeface="IBM Plex Sans Medium"/>
              </a:rPr>
              <a:t>Копирование в буфер</a:t>
            </a:r>
            <a:endParaRPr lang="en-US" sz="1700"/>
          </a:p>
        </p:txBody>
      </p:sp>
      <p:sp>
        <p:nvSpPr>
          <p:cNvPr id="946305610" name="Text 14"/>
          <p:cNvSpPr/>
          <p:nvPr/>
        </p:nvSpPr>
        <p:spPr bwMode="auto">
          <a:xfrm>
            <a:off x="9307354" y="5870615"/>
            <a:ext cx="3629382" cy="5686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  <a:defRPr/>
            </a:pPr>
            <a:r>
              <a:rPr lang="en-US" sz="13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Готовый CSS-код можно сразу использовать в любом веб-проекте</a:t>
            </a:r>
            <a:endParaRPr lang="en-US" sz="1350"/>
          </a:p>
        </p:txBody>
      </p:sp>
      <p:sp>
        <p:nvSpPr>
          <p:cNvPr id="334038980" name="Text 15"/>
          <p:cNvSpPr/>
          <p:nvPr/>
        </p:nvSpPr>
        <p:spPr bwMode="auto">
          <a:xfrm>
            <a:off x="1960126" y="7256621"/>
            <a:ext cx="10976609" cy="2843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  <a:defRPr/>
            </a:pPr>
            <a:r>
              <a:rPr lang="en-US" sz="13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Один div-элемент заменяет 256 потенциальных HTML-тегов благодаря математике теней</a:t>
            </a:r>
            <a:endParaRPr lang="en-US" sz="1350"/>
          </a:p>
        </p:txBody>
      </p:sp>
      <p:sp>
        <p:nvSpPr>
          <p:cNvPr id="599151746" name="Shape 16"/>
          <p:cNvSpPr/>
          <p:nvPr/>
        </p:nvSpPr>
        <p:spPr bwMode="auto">
          <a:xfrm>
            <a:off x="1693544" y="7056715"/>
            <a:ext cx="22860" cy="684133"/>
          </a:xfrm>
          <a:prstGeom prst="rect">
            <a:avLst/>
          </a:prstGeom>
          <a:solidFill>
            <a:srgbClr val="FFBC8F"/>
          </a:solidFill>
          <a:ln/>
        </p:spPr>
      </p:sp>
      <p:pic>
        <p:nvPicPr>
          <p:cNvPr id="84125381" name="Рисунок 84125380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12314464" y="7540941"/>
            <a:ext cx="2228850" cy="65722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8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5312480" name="Shape 0"/>
          <p:cNvSpPr/>
          <p:nvPr/>
        </p:nvSpPr>
        <p:spPr bwMode="auto">
          <a:xfrm>
            <a:off x="793790" y="1445895"/>
            <a:ext cx="1152049" cy="441484"/>
          </a:xfrm>
          <a:prstGeom prst="roundRect">
            <a:avLst>
              <a:gd name="adj" fmla="val 6165"/>
            </a:avLst>
          </a:prstGeom>
          <a:noFill/>
          <a:ln w="7620">
            <a:solidFill>
              <a:srgbClr val="FFBC8F"/>
            </a:solidFill>
            <a:prstDash val="solid"/>
          </a:ln>
        </p:spPr>
      </p:sp>
      <p:sp>
        <p:nvSpPr>
          <p:cNvPr id="1255541461" name="Text 1"/>
          <p:cNvSpPr/>
          <p:nvPr/>
        </p:nvSpPr>
        <p:spPr bwMode="auto">
          <a:xfrm>
            <a:off x="937498" y="1521500"/>
            <a:ext cx="864632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  <a:defRPr/>
            </a:pPr>
            <a:r>
              <a:rPr lang="en-US" sz="1400">
                <a:solidFill>
                  <a:srgbClr val="FFBC8F"/>
                </a:solidFill>
                <a:latin typeface="Roboto"/>
                <a:ea typeface="Roboto"/>
                <a:cs typeface="Roboto"/>
              </a:rPr>
              <a:t>ROADMAP</a:t>
            </a:r>
            <a:endParaRPr lang="en-US" sz="1400"/>
          </a:p>
        </p:txBody>
      </p:sp>
      <p:sp>
        <p:nvSpPr>
          <p:cNvPr id="722931004" name="Text 2"/>
          <p:cNvSpPr/>
          <p:nvPr/>
        </p:nvSpPr>
        <p:spPr bwMode="auto">
          <a:xfrm>
            <a:off x="793790" y="1978104"/>
            <a:ext cx="6802636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  <a:defRPr/>
            </a:pPr>
            <a:r>
              <a:rPr lang="en-US" sz="4450">
                <a:solidFill>
                  <a:srgbClr val="F3F3F2"/>
                </a:solidFill>
                <a:latin typeface="IBM Plex Sans Medium"/>
                <a:ea typeface="IBM Plex Sans Medium"/>
                <a:cs typeface="IBM Plex Sans Medium"/>
              </a:rPr>
              <a:t>Планы развития проекта</a:t>
            </a:r>
            <a:endParaRPr lang="en-US" sz="4450"/>
          </a:p>
        </p:txBody>
      </p:sp>
      <p:sp>
        <p:nvSpPr>
          <p:cNvPr id="138181191" name="Shape 3"/>
          <p:cNvSpPr/>
          <p:nvPr/>
        </p:nvSpPr>
        <p:spPr bwMode="auto">
          <a:xfrm>
            <a:off x="1133951" y="3934301"/>
            <a:ext cx="3856077" cy="226814"/>
          </a:xfrm>
          <a:prstGeom prst="roundRect">
            <a:avLst>
              <a:gd name="adj" fmla="val 15001"/>
            </a:avLst>
          </a:prstGeom>
          <a:solidFill>
            <a:srgbClr val="484B51"/>
          </a:solidFill>
          <a:ln/>
        </p:spPr>
      </p:sp>
      <p:sp>
        <p:nvSpPr>
          <p:cNvPr id="102757948" name="Shape 4"/>
          <p:cNvSpPr/>
          <p:nvPr/>
        </p:nvSpPr>
        <p:spPr bwMode="auto">
          <a:xfrm>
            <a:off x="793790" y="3707428"/>
            <a:ext cx="680441" cy="680441"/>
          </a:xfrm>
          <a:prstGeom prst="roundRect">
            <a:avLst>
              <a:gd name="adj" fmla="val 67192"/>
            </a:avLst>
          </a:prstGeom>
          <a:solidFill>
            <a:srgbClr val="484B51"/>
          </a:solidFill>
          <a:ln/>
        </p:spPr>
      </p:sp>
      <p:pic>
        <p:nvPicPr>
          <p:cNvPr id="77162530" name="Image 0" descr="preencoded.png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/>
        </p:blipFill>
        <p:spPr bwMode="auto">
          <a:xfrm>
            <a:off x="963930" y="3877568"/>
            <a:ext cx="340162" cy="340162"/>
          </a:xfrm>
          <a:prstGeom prst="rect">
            <a:avLst/>
          </a:prstGeom>
        </p:spPr>
      </p:pic>
      <p:sp>
        <p:nvSpPr>
          <p:cNvPr id="1633818275" name="Text 5"/>
          <p:cNvSpPr/>
          <p:nvPr/>
        </p:nvSpPr>
        <p:spPr bwMode="auto">
          <a:xfrm>
            <a:off x="1020604" y="461474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  <a:defRPr/>
            </a:pPr>
            <a:r>
              <a:rPr lang="en-US" sz="2200">
                <a:solidFill>
                  <a:srgbClr val="D4D4D1"/>
                </a:solidFill>
                <a:latin typeface="IBM Plex Sans Medium"/>
                <a:ea typeface="IBM Plex Sans Medium"/>
                <a:cs typeface="IBM Plex Sans Medium"/>
              </a:rPr>
              <a:t>LocalStorage API</a:t>
            </a:r>
            <a:endParaRPr lang="en-US" sz="2200"/>
          </a:p>
        </p:txBody>
      </p:sp>
      <p:sp>
        <p:nvSpPr>
          <p:cNvPr id="730369214" name="Text 6"/>
          <p:cNvSpPr/>
          <p:nvPr/>
        </p:nvSpPr>
        <p:spPr bwMode="auto">
          <a:xfrm>
            <a:off x="1020604" y="5105162"/>
            <a:ext cx="374273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Сохранение работ пользователя в браузере для возможности продолжить рисование позже без потери данных</a:t>
            </a:r>
            <a:endParaRPr lang="en-US" sz="1750"/>
          </a:p>
        </p:txBody>
      </p:sp>
      <p:sp>
        <p:nvSpPr>
          <p:cNvPr id="918102026" name="Shape 7"/>
          <p:cNvSpPr/>
          <p:nvPr/>
        </p:nvSpPr>
        <p:spPr bwMode="auto">
          <a:xfrm>
            <a:off x="5557123" y="3594021"/>
            <a:ext cx="3856077" cy="226814"/>
          </a:xfrm>
          <a:prstGeom prst="roundRect">
            <a:avLst>
              <a:gd name="adj" fmla="val 15001"/>
            </a:avLst>
          </a:prstGeom>
          <a:solidFill>
            <a:srgbClr val="484B51"/>
          </a:solidFill>
          <a:ln/>
        </p:spPr>
      </p:sp>
      <p:sp>
        <p:nvSpPr>
          <p:cNvPr id="1134242864" name="Shape 8"/>
          <p:cNvSpPr/>
          <p:nvPr/>
        </p:nvSpPr>
        <p:spPr bwMode="auto">
          <a:xfrm>
            <a:off x="5216962" y="3367147"/>
            <a:ext cx="680441" cy="680441"/>
          </a:xfrm>
          <a:prstGeom prst="roundRect">
            <a:avLst>
              <a:gd name="adj" fmla="val 67192"/>
            </a:avLst>
          </a:prstGeom>
          <a:solidFill>
            <a:srgbClr val="484B51"/>
          </a:solidFill>
          <a:ln/>
        </p:spPr>
      </p:sp>
      <p:pic>
        <p:nvPicPr>
          <p:cNvPr id="697474661" name="Image 1" descr="preencoded.png"/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/>
        </p:blipFill>
        <p:spPr bwMode="auto">
          <a:xfrm>
            <a:off x="5387102" y="3537287"/>
            <a:ext cx="340162" cy="340162"/>
          </a:xfrm>
          <a:prstGeom prst="rect">
            <a:avLst/>
          </a:prstGeom>
        </p:spPr>
      </p:pic>
      <p:sp>
        <p:nvSpPr>
          <p:cNvPr id="2104012764" name="Text 9"/>
          <p:cNvSpPr/>
          <p:nvPr/>
        </p:nvSpPr>
        <p:spPr bwMode="auto">
          <a:xfrm>
            <a:off x="5443776" y="427446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  <a:defRPr/>
            </a:pPr>
            <a:r>
              <a:rPr lang="en-US" sz="2200">
                <a:solidFill>
                  <a:srgbClr val="D4D4D1"/>
                </a:solidFill>
                <a:latin typeface="IBM Plex Sans Medium"/>
                <a:ea typeface="IBM Plex Sans Medium"/>
                <a:cs typeface="IBM Plex Sans Medium"/>
              </a:rPr>
              <a:t>CSS Animations</a:t>
            </a:r>
            <a:endParaRPr lang="en-US" sz="2200"/>
          </a:p>
        </p:txBody>
      </p:sp>
      <p:sp>
        <p:nvSpPr>
          <p:cNvPr id="615366454" name="Text 10"/>
          <p:cNvSpPr/>
          <p:nvPr/>
        </p:nvSpPr>
        <p:spPr bwMode="auto">
          <a:xfrm>
            <a:off x="5443776" y="4764881"/>
            <a:ext cx="374273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Генерация @keyframes для создания анимированных спрайтов с покадровой сменой box-shadow</a:t>
            </a:r>
            <a:endParaRPr lang="en-US" sz="1750"/>
          </a:p>
        </p:txBody>
      </p:sp>
      <p:sp>
        <p:nvSpPr>
          <p:cNvPr id="1730386070" name="Shape 11"/>
          <p:cNvSpPr/>
          <p:nvPr/>
        </p:nvSpPr>
        <p:spPr bwMode="auto">
          <a:xfrm>
            <a:off x="9980295" y="3253859"/>
            <a:ext cx="3856077" cy="226814"/>
          </a:xfrm>
          <a:prstGeom prst="roundRect">
            <a:avLst>
              <a:gd name="adj" fmla="val 15001"/>
            </a:avLst>
          </a:prstGeom>
          <a:solidFill>
            <a:srgbClr val="484B51"/>
          </a:solidFill>
          <a:ln/>
        </p:spPr>
      </p:sp>
      <p:sp>
        <p:nvSpPr>
          <p:cNvPr id="1692837634" name="Shape 12"/>
          <p:cNvSpPr/>
          <p:nvPr/>
        </p:nvSpPr>
        <p:spPr bwMode="auto">
          <a:xfrm>
            <a:off x="9640133" y="3026985"/>
            <a:ext cx="680441" cy="680441"/>
          </a:xfrm>
          <a:prstGeom prst="roundRect">
            <a:avLst>
              <a:gd name="adj" fmla="val 67192"/>
            </a:avLst>
          </a:prstGeom>
          <a:solidFill>
            <a:srgbClr val="484B51"/>
          </a:solidFill>
          <a:ln/>
        </p:spPr>
      </p:sp>
      <p:pic>
        <p:nvPicPr>
          <p:cNvPr id="552554926" name="Image 2" descr="preencoded.png"/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tretch/>
        </p:blipFill>
        <p:spPr bwMode="auto">
          <a:xfrm>
            <a:off x="9810274" y="3197126"/>
            <a:ext cx="340162" cy="340162"/>
          </a:xfrm>
          <a:prstGeom prst="rect">
            <a:avLst/>
          </a:prstGeom>
        </p:spPr>
      </p:pic>
      <p:sp>
        <p:nvSpPr>
          <p:cNvPr id="694439995" name="Text 13"/>
          <p:cNvSpPr/>
          <p:nvPr/>
        </p:nvSpPr>
        <p:spPr bwMode="auto">
          <a:xfrm>
            <a:off x="9866948" y="3934301"/>
            <a:ext cx="3654981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  <a:defRPr/>
            </a:pPr>
            <a:r>
              <a:rPr lang="en-US" sz="2200">
                <a:solidFill>
                  <a:srgbClr val="D4D4D1"/>
                </a:solidFill>
                <a:latin typeface="IBM Plex Sans Medium"/>
                <a:ea typeface="IBM Plex Sans Medium"/>
                <a:cs typeface="IBM Plex Sans Medium"/>
              </a:rPr>
              <a:t>Переменный размер сетки</a:t>
            </a:r>
            <a:endParaRPr lang="en-US" sz="2200"/>
          </a:p>
        </p:txBody>
      </p:sp>
      <p:sp>
        <p:nvSpPr>
          <p:cNvPr id="1289289465" name="Text 14"/>
          <p:cNvSpPr/>
          <p:nvPr/>
        </p:nvSpPr>
        <p:spPr bwMode="auto">
          <a:xfrm>
            <a:off x="9866948" y="4424720"/>
            <a:ext cx="37427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Поддержка холстов 8×8, 32×32, 64×64 для более детальных или оптимизированных изображений</a:t>
            </a:r>
            <a:endParaRPr lang="en-US" sz="1750"/>
          </a:p>
        </p:txBody>
      </p:sp>
      <p:pic>
        <p:nvPicPr>
          <p:cNvPr id="729006083" name="Рисунок 729006082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12325803" y="7551964"/>
            <a:ext cx="2228850" cy="6572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9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163748" name="Text 0"/>
          <p:cNvSpPr/>
          <p:nvPr/>
        </p:nvSpPr>
        <p:spPr bwMode="auto">
          <a:xfrm>
            <a:off x="793790" y="1692831"/>
            <a:ext cx="846105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  <a:defRPr/>
            </a:pPr>
            <a:r>
              <a:rPr lang="en-US" sz="4450">
                <a:solidFill>
                  <a:srgbClr val="F3F3F2"/>
                </a:solidFill>
                <a:latin typeface="IBM Plex Sans Medium"/>
                <a:ea typeface="IBM Plex Sans Medium"/>
                <a:cs typeface="IBM Plex Sans Medium"/>
              </a:rPr>
              <a:t>Pixels — CSS без компромиссов</a:t>
            </a:r>
            <a:endParaRPr lang="en-US" sz="4450"/>
          </a:p>
        </p:txBody>
      </p:sp>
      <p:sp>
        <p:nvSpPr>
          <p:cNvPr id="1650311294" name="Text 1"/>
          <p:cNvSpPr/>
          <p:nvPr/>
        </p:nvSpPr>
        <p:spPr bwMode="auto">
          <a:xfrm>
            <a:off x="793790" y="2968585"/>
            <a:ext cx="419838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2650">
                <a:solidFill>
                  <a:srgbClr val="F3F3F2"/>
                </a:solidFill>
                <a:latin typeface="IBM Plex Sans Medium"/>
                <a:ea typeface="IBM Plex Sans Medium"/>
                <a:cs typeface="IBM Plex Sans Medium"/>
              </a:rPr>
              <a:t>Ключевые преимущества</a:t>
            </a:r>
            <a:endParaRPr lang="en-US" sz="2650"/>
          </a:p>
        </p:txBody>
      </p:sp>
      <p:sp>
        <p:nvSpPr>
          <p:cNvPr id="1654479021" name="Text 2"/>
          <p:cNvSpPr/>
          <p:nvPr/>
        </p:nvSpPr>
        <p:spPr bwMode="auto">
          <a:xfrm>
            <a:off x="793790" y="3620691"/>
            <a:ext cx="692443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  <a:defRPr/>
            </a:pPr>
            <a:r>
              <a:rPr lang="en-US" sz="17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Векторная четкость на любых экранах</a:t>
            </a:r>
            <a:endParaRPr lang="en-US" sz="1750"/>
          </a:p>
        </p:txBody>
      </p:sp>
      <p:sp>
        <p:nvSpPr>
          <p:cNvPr id="717026560" name="Text 3"/>
          <p:cNvSpPr/>
          <p:nvPr/>
        </p:nvSpPr>
        <p:spPr bwMode="auto">
          <a:xfrm>
            <a:off x="793790" y="4062889"/>
            <a:ext cx="692443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  <a:defRPr/>
            </a:pPr>
            <a:r>
              <a:rPr lang="en-US" sz="17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Нулевая задержка загрузки</a:t>
            </a:r>
            <a:endParaRPr lang="en-US" sz="1750"/>
          </a:p>
        </p:txBody>
      </p:sp>
      <p:sp>
        <p:nvSpPr>
          <p:cNvPr id="1848289755" name="Text 4"/>
          <p:cNvSpPr/>
          <p:nvPr/>
        </p:nvSpPr>
        <p:spPr bwMode="auto">
          <a:xfrm>
            <a:off x="793790" y="4505087"/>
            <a:ext cx="692443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  <a:defRPr/>
            </a:pPr>
            <a:r>
              <a:rPr lang="en-US" sz="17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Чистый JavaScript без библиотек</a:t>
            </a:r>
            <a:endParaRPr lang="en-US" sz="1750"/>
          </a:p>
        </p:txBody>
      </p:sp>
      <p:sp>
        <p:nvSpPr>
          <p:cNvPr id="1298308717" name="Text 5"/>
          <p:cNvSpPr/>
          <p:nvPr/>
        </p:nvSpPr>
        <p:spPr bwMode="auto">
          <a:xfrm>
            <a:off x="793790" y="4947285"/>
            <a:ext cx="692443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  <a:defRPr/>
            </a:pPr>
            <a:r>
              <a:rPr lang="en-US" sz="17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Полный контроль через код</a:t>
            </a:r>
            <a:endParaRPr lang="en-US" sz="1750"/>
          </a:p>
        </p:txBody>
      </p:sp>
      <p:sp>
        <p:nvSpPr>
          <p:cNvPr id="693835616" name="Shape 8"/>
          <p:cNvSpPr/>
          <p:nvPr/>
        </p:nvSpPr>
        <p:spPr bwMode="auto">
          <a:xfrm>
            <a:off x="8279249" y="2996922"/>
            <a:ext cx="5564862" cy="2415421"/>
          </a:xfrm>
          <a:prstGeom prst="roundRect">
            <a:avLst>
              <a:gd name="adj" fmla="val 1409"/>
            </a:avLst>
          </a:prstGeom>
          <a:solidFill>
            <a:srgbClr val="4D1F00"/>
          </a:solidFill>
          <a:ln/>
        </p:spPr>
      </p:sp>
      <p:pic>
        <p:nvPicPr>
          <p:cNvPr id="1655875260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8506063" y="3341013"/>
            <a:ext cx="283488" cy="226814"/>
          </a:xfrm>
          <a:prstGeom prst="rect">
            <a:avLst/>
          </a:prstGeom>
        </p:spPr>
      </p:pic>
      <p:sp>
        <p:nvSpPr>
          <p:cNvPr id="1555851315" name="Text 9"/>
          <p:cNvSpPr/>
          <p:nvPr/>
        </p:nvSpPr>
        <p:spPr bwMode="auto">
          <a:xfrm>
            <a:off x="9016365" y="3280410"/>
            <a:ext cx="4600932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 b="1">
                <a:solidFill>
                  <a:srgbClr val="FFFFFF"/>
                </a:solidFill>
                <a:latin typeface="Roboto"/>
                <a:ea typeface="Roboto"/>
                <a:cs typeface="Roboto"/>
              </a:rPr>
              <a:t>Вывод:</a:t>
            </a:r>
            <a:r>
              <a:rPr lang="en-US" sz="175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 CSS box-shadow превращает браузер в графический редактор, доказывая, что веб-стандарты способны решать задачи, выходящие за рамки их изначального предназначения</a:t>
            </a:r>
            <a:endParaRPr lang="en-US" sz="1750"/>
          </a:p>
        </p:txBody>
      </p:sp>
      <p:pic>
        <p:nvPicPr>
          <p:cNvPr id="2051207809" name="Рисунок 2051207808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12337142" y="7540624"/>
            <a:ext cx="2228850" cy="65722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9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3305527" name="Text 0"/>
          <p:cNvSpPr/>
          <p:nvPr/>
        </p:nvSpPr>
        <p:spPr bwMode="auto">
          <a:xfrm>
            <a:off x="2329812" y="3387660"/>
            <a:ext cx="10180563" cy="727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49"/>
              </a:lnSpc>
              <a:buNone/>
              <a:defRPr/>
            </a:pPr>
            <a:r>
              <a:rPr lang="ru-RU" sz="7200">
                <a:solidFill>
                  <a:srgbClr val="F3F3F2"/>
                </a:solidFill>
                <a:latin typeface="IBM Plex Sans Medium"/>
                <a:ea typeface="IBM Plex Sans Medium"/>
                <a:cs typeface="IBM Plex Sans Medium"/>
              </a:rPr>
              <a:t>Спасибо за внимание</a:t>
            </a:r>
            <a:endParaRPr sz="7200"/>
          </a:p>
        </p:txBody>
      </p:sp>
      <p:sp>
        <p:nvSpPr>
          <p:cNvPr id="2052193394" name="Text 7"/>
          <p:cNvSpPr/>
          <p:nvPr/>
        </p:nvSpPr>
        <p:spPr bwMode="auto">
          <a:xfrm>
            <a:off x="5385663" y="4245429"/>
            <a:ext cx="3856861" cy="351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49"/>
              </a:lnSpc>
              <a:buNone/>
              <a:defRPr/>
            </a:pPr>
            <a:r>
              <a:rPr lang="en-US" sz="1750" b="1">
                <a:solidFill>
                  <a:srgbClr val="D4D4D1"/>
                </a:solidFill>
                <a:latin typeface="Roboto"/>
                <a:ea typeface="Roboto"/>
                <a:cs typeface="Roboto"/>
              </a:rPr>
              <a:t>GitHub:</a:t>
            </a:r>
            <a:r>
              <a:rPr lang="en-US" sz="1750">
                <a:solidFill>
                  <a:srgbClr val="D4D4D1"/>
                </a:solidFill>
                <a:latin typeface="Roboto"/>
                <a:ea typeface="Roboto"/>
                <a:cs typeface="Roboto"/>
              </a:rPr>
              <a:t> </a:t>
            </a:r>
            <a:r>
              <a:rPr lang="en-US" sz="1750" u="sng">
                <a:solidFill>
                  <a:schemeClr val="hlink"/>
                </a:solidFill>
                <a:latin typeface="Roboto"/>
                <a:ea typeface="Roboto"/>
                <a:cs typeface="Roboto"/>
                <a:hlinkClick r:id="rId3"/>
              </a:rPr>
              <a:t>github.com/Korsany/Pixels</a:t>
            </a:r>
            <a:endParaRPr lang="en-US" sz="1750"/>
          </a:p>
        </p:txBody>
      </p:sp>
      <p:pic>
        <p:nvPicPr>
          <p:cNvPr id="1065103749" name="Рисунок 1065103748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12337141" y="7540623"/>
            <a:ext cx="2228850" cy="65722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540</Words>
  <Application>Microsoft Office PowerPoint</Application>
  <PresentationFormat>Произвольный</PresentationFormat>
  <Paragraphs>125</Paragraphs>
  <Slides>12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21" baseType="lpstr">
      <vt:lpstr>Arial</vt:lpstr>
      <vt:lpstr>Wingdings 3</vt:lpstr>
      <vt:lpstr>Bahnschrift</vt:lpstr>
      <vt:lpstr>Consolas</vt:lpstr>
      <vt:lpstr>Calibri</vt:lpstr>
      <vt:lpstr>IBM Plex Sans Light</vt:lpstr>
      <vt:lpstr>IBM Plex Sans Medium</vt:lpstr>
      <vt:lpstr>Roboto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lastModifiedBy>Учетная запись Майкрософт</cp:lastModifiedBy>
  <cp:revision>92</cp:revision>
  <dcterms:created xsi:type="dcterms:W3CDTF">2026-01-18T08:41:05Z</dcterms:created>
  <dcterms:modified xsi:type="dcterms:W3CDTF">2026-02-25T09:43:26Z</dcterms:modified>
</cp:coreProperties>
</file>