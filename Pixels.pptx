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4608"/>
        <p:guide pos="2592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970443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2756031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33594444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0486004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1143082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427422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2279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8333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0544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88091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9448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0618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5214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101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572343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8694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96601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30027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0738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07853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8138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7715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94820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99918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022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2575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0790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1588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36449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70445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0499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302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273993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0251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21072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0853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51F95B-00B0-9378-C025-ECCDB0EB8C9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4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6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7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8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1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8314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34466819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1229097491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2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6505917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2001108197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946022007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3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430545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575189450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808878570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4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55439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2100150172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1959191267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5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71131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1164448383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876445039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6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3746912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162944801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1947315523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7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0435670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75780813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287620402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8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131800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4807610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717018877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9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8687204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905390951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1555348736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0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media1.svg"/><Relationship Id="rId5" Type="http://schemas.openxmlformats.org/officeDocument/2006/relationships/image" Target="../media/image16.png"/><Relationship Id="rId6" Type="http://schemas.openxmlformats.org/officeDocument/2006/relationships/image" Target="../media/media2.svg"/><Relationship Id="rId7" Type="http://schemas.openxmlformats.org/officeDocument/2006/relationships/image" Target="../media/image17.png"/><Relationship Id="rId8" Type="http://schemas.openxmlformats.org/officeDocument/2006/relationships/image" Target="../media/media3.svg"/><Relationship Id="rId9" Type="http://schemas.openxmlformats.org/officeDocument/2006/relationships/image" Target="../media/image18.png"/><Relationship Id="rId10" Type="http://schemas.openxmlformats.org/officeDocument/2006/relationships/image" Target="../media/media4.svg"/><Relationship Id="rId11" Type="http://schemas.openxmlformats.org/officeDocument/2006/relationships/image" Target="../media/image10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Relationship Id="rId4" Type="http://schemas.openxmlformats.org/officeDocument/2006/relationships/image" Target="../media/media5.svg"/><Relationship Id="rId5" Type="http://schemas.openxmlformats.org/officeDocument/2006/relationships/image" Target="../media/image21.png"/><Relationship Id="rId6" Type="http://schemas.openxmlformats.org/officeDocument/2006/relationships/image" Target="../media/media6.svg"/><Relationship Id="rId7" Type="http://schemas.openxmlformats.org/officeDocument/2006/relationships/image" Target="../media/image22.png"/><Relationship Id="rId8" Type="http://schemas.openxmlformats.org/officeDocument/2006/relationships/image" Target="../media/media7.svg"/><Relationship Id="rId9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Relationship Id="rId4" Type="http://schemas.openxmlformats.org/officeDocument/2006/relationships/image" Target="../media/image10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Korsany/Pixels" TargetMode="Externa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8904068" name="Text 0"/>
          <p:cNvSpPr/>
          <p:nvPr/>
        </p:nvSpPr>
        <p:spPr bwMode="auto">
          <a:xfrm>
            <a:off x="793790" y="318635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Pixels</a:t>
            </a:r>
            <a:endParaRPr lang="en-US" sz="4450"/>
          </a:p>
        </p:txBody>
      </p:sp>
      <p:sp>
        <p:nvSpPr>
          <p:cNvPr id="1817732809" name="Text 1"/>
          <p:cNvSpPr/>
          <p:nvPr/>
        </p:nvSpPr>
        <p:spPr bwMode="auto">
          <a:xfrm>
            <a:off x="793790" y="3985855"/>
            <a:ext cx="596836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Генератор CSS-арта для веб-разработчиков</a:t>
            </a:r>
            <a:endParaRPr lang="en-US" sz="2200"/>
          </a:p>
        </p:txBody>
      </p:sp>
      <p:sp>
        <p:nvSpPr>
          <p:cNvPr id="354296680" name="Text 2"/>
          <p:cNvSpPr/>
          <p:nvPr/>
        </p:nvSpPr>
        <p:spPr bwMode="auto">
          <a:xfrm>
            <a:off x="793790" y="468034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Легкий инструмент для создания пиксельной графики на чистом JavaScript с векторной точностью</a:t>
            </a:r>
            <a:endParaRPr lang="en-US" sz="1750"/>
          </a:p>
        </p:txBody>
      </p:sp>
      <p:pic>
        <p:nvPicPr>
          <p:cNvPr id="39423121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14464" y="7551964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183929" name="Shape 0"/>
          <p:cNvSpPr/>
          <p:nvPr/>
        </p:nvSpPr>
        <p:spPr bwMode="auto">
          <a:xfrm>
            <a:off x="793790" y="2133957"/>
            <a:ext cx="1264682" cy="426244"/>
          </a:xfrm>
          <a:prstGeom prst="roundRect">
            <a:avLst>
              <a:gd name="adj" fmla="val 6386"/>
            </a:avLst>
          </a:prstGeom>
          <a:solidFill>
            <a:srgbClr val="4D1F00"/>
          </a:solidFill>
          <a:ln/>
        </p:spPr>
      </p:sp>
      <p:sp>
        <p:nvSpPr>
          <p:cNvPr id="1905681914" name="Text 1"/>
          <p:cNvSpPr/>
          <p:nvPr/>
        </p:nvSpPr>
        <p:spPr bwMode="auto">
          <a:xfrm>
            <a:off x="929878" y="2201942"/>
            <a:ext cx="992505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4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ПРОБЛЕМА</a:t>
            </a:r>
            <a:endParaRPr lang="en-US" sz="1400"/>
          </a:p>
        </p:txBody>
      </p:sp>
      <p:sp>
        <p:nvSpPr>
          <p:cNvPr id="2138261279" name="Text 2"/>
          <p:cNvSpPr/>
          <p:nvPr/>
        </p:nvSpPr>
        <p:spPr bwMode="auto">
          <a:xfrm>
            <a:off x="793790" y="2650927"/>
            <a:ext cx="1215878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Традиционные изображения замедляют веб</a:t>
            </a:r>
            <a:endParaRPr lang="en-US" sz="4450"/>
          </a:p>
        </p:txBody>
      </p:sp>
      <p:sp>
        <p:nvSpPr>
          <p:cNvPr id="1556004746" name="Shape 3"/>
          <p:cNvSpPr/>
          <p:nvPr/>
        </p:nvSpPr>
        <p:spPr bwMode="auto">
          <a:xfrm>
            <a:off x="793790" y="3699867"/>
            <a:ext cx="4196358" cy="2395657"/>
          </a:xfrm>
          <a:prstGeom prst="roundRect">
            <a:avLst>
              <a:gd name="adj" fmla="val 1420"/>
            </a:avLst>
          </a:prstGeom>
          <a:solidFill>
            <a:srgbClr val="484B51"/>
          </a:solidFill>
          <a:ln/>
        </p:spPr>
      </p:sp>
      <p:sp>
        <p:nvSpPr>
          <p:cNvPr id="1001110792" name="Text 4"/>
          <p:cNvSpPr/>
          <p:nvPr/>
        </p:nvSpPr>
        <p:spPr bwMode="auto">
          <a:xfrm>
            <a:off x="1020604" y="3926681"/>
            <a:ext cx="284392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Большой вес файлов</a:t>
            </a:r>
            <a:endParaRPr lang="en-US" sz="2200"/>
          </a:p>
        </p:txBody>
      </p:sp>
      <p:sp>
        <p:nvSpPr>
          <p:cNvPr id="389815193" name="Text 5"/>
          <p:cNvSpPr/>
          <p:nvPr/>
        </p:nvSpPr>
        <p:spPr bwMode="auto">
          <a:xfrm>
            <a:off x="1020604" y="4417100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Растровые форматы PNG и JPG занимают килобайты даже для простых иконок, увеличивая время загрузки страницы</a:t>
            </a:r>
            <a:endParaRPr lang="en-US" sz="1750"/>
          </a:p>
        </p:txBody>
      </p:sp>
      <p:sp>
        <p:nvSpPr>
          <p:cNvPr id="1454626358" name="Shape 6"/>
          <p:cNvSpPr/>
          <p:nvPr/>
        </p:nvSpPr>
        <p:spPr bwMode="auto">
          <a:xfrm>
            <a:off x="5216962" y="3699867"/>
            <a:ext cx="4196358" cy="2395657"/>
          </a:xfrm>
          <a:prstGeom prst="roundRect">
            <a:avLst>
              <a:gd name="adj" fmla="val 1420"/>
            </a:avLst>
          </a:prstGeom>
          <a:solidFill>
            <a:srgbClr val="484B51"/>
          </a:solidFill>
          <a:ln/>
        </p:spPr>
      </p:sp>
      <p:sp>
        <p:nvSpPr>
          <p:cNvPr id="47627338" name="Text 7"/>
          <p:cNvSpPr/>
          <p:nvPr/>
        </p:nvSpPr>
        <p:spPr bwMode="auto">
          <a:xfrm>
            <a:off x="5443776" y="39266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Потеря качества</a:t>
            </a:r>
            <a:endParaRPr lang="en-US" sz="2200"/>
          </a:p>
        </p:txBody>
      </p:sp>
      <p:sp>
        <p:nvSpPr>
          <p:cNvPr id="15064894" name="Text 8"/>
          <p:cNvSpPr/>
          <p:nvPr/>
        </p:nvSpPr>
        <p:spPr bwMode="auto">
          <a:xfrm>
            <a:off x="5443776" y="4417100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При масштабировании пиксельные изображения становятся размытыми, теряя четкость на Retina-дисплеях</a:t>
            </a:r>
            <a:endParaRPr lang="en-US" sz="1750"/>
          </a:p>
        </p:txBody>
      </p:sp>
      <p:sp>
        <p:nvSpPr>
          <p:cNvPr id="640772576" name="Shape 9"/>
          <p:cNvSpPr/>
          <p:nvPr/>
        </p:nvSpPr>
        <p:spPr bwMode="auto">
          <a:xfrm>
            <a:off x="9640133" y="3699867"/>
            <a:ext cx="4196358" cy="2395657"/>
          </a:xfrm>
          <a:prstGeom prst="roundRect">
            <a:avLst>
              <a:gd name="adj" fmla="val 1420"/>
            </a:avLst>
          </a:prstGeom>
          <a:solidFill>
            <a:srgbClr val="484B51"/>
          </a:solidFill>
          <a:ln/>
        </p:spPr>
      </p:sp>
      <p:sp>
        <p:nvSpPr>
          <p:cNvPr id="2123927447" name="Text 10"/>
          <p:cNvSpPr/>
          <p:nvPr/>
        </p:nvSpPr>
        <p:spPr bwMode="auto">
          <a:xfrm>
            <a:off x="9866948" y="39266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HTTP-запросы</a:t>
            </a:r>
            <a:endParaRPr lang="en-US" sz="2200"/>
          </a:p>
        </p:txBody>
      </p:sp>
      <p:sp>
        <p:nvSpPr>
          <p:cNvPr id="789806464" name="Text 11"/>
          <p:cNvSpPr/>
          <p:nvPr/>
        </p:nvSpPr>
        <p:spPr bwMode="auto">
          <a:xfrm>
            <a:off x="9866948" y="4417100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Каждое изображение требует отдельного запроса к серверу, замедляя рендеринг интерфейса</a:t>
            </a:r>
            <a:endParaRPr lang="en-US" sz="1750"/>
          </a:p>
        </p:txBody>
      </p:sp>
      <p:pic>
        <p:nvPicPr>
          <p:cNvPr id="20734135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03124" y="7529285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934005" name="Shape 0"/>
          <p:cNvSpPr/>
          <p:nvPr/>
        </p:nvSpPr>
        <p:spPr bwMode="auto">
          <a:xfrm>
            <a:off x="793790" y="1447443"/>
            <a:ext cx="1140381" cy="441484"/>
          </a:xfrm>
          <a:prstGeom prst="roundRect">
            <a:avLst>
              <a:gd name="adj" fmla="val 6165"/>
            </a:avLst>
          </a:prstGeom>
          <a:noFill/>
          <a:ln w="7620">
            <a:solidFill>
              <a:srgbClr val="FFBC8F"/>
            </a:solidFill>
            <a:prstDash val="solid"/>
          </a:ln>
        </p:spPr>
      </p:sp>
      <p:sp>
        <p:nvSpPr>
          <p:cNvPr id="2010447823" name="Text 1"/>
          <p:cNvSpPr/>
          <p:nvPr/>
        </p:nvSpPr>
        <p:spPr bwMode="auto">
          <a:xfrm>
            <a:off x="937498" y="1523047"/>
            <a:ext cx="852964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400">
                <a:solidFill>
                  <a:srgbClr val="FFBC8F"/>
                </a:solidFill>
                <a:latin typeface="Roboto"/>
                <a:ea typeface="Roboto"/>
                <a:cs typeface="Roboto"/>
              </a:rPr>
              <a:t>РЕШЕНИЕ</a:t>
            </a:r>
            <a:endParaRPr lang="en-US" sz="1400"/>
          </a:p>
        </p:txBody>
      </p:sp>
      <p:sp>
        <p:nvSpPr>
          <p:cNvPr id="1305221954" name="Text 2"/>
          <p:cNvSpPr/>
          <p:nvPr/>
        </p:nvSpPr>
        <p:spPr bwMode="auto">
          <a:xfrm>
            <a:off x="793790" y="1979652"/>
            <a:ext cx="1139285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CSS box-shadow как графический движок</a:t>
            </a:r>
            <a:endParaRPr lang="en-US" sz="4450"/>
          </a:p>
        </p:txBody>
      </p:sp>
      <p:sp>
        <p:nvSpPr>
          <p:cNvPr id="1402851431" name="Text 3"/>
          <p:cNvSpPr/>
          <p:nvPr/>
        </p:nvSpPr>
        <p:spPr bwMode="auto">
          <a:xfrm>
            <a:off x="793790" y="3255407"/>
            <a:ext cx="438507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26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Преимущества технологии</a:t>
            </a:r>
            <a:endParaRPr lang="en-US" sz="2650"/>
          </a:p>
        </p:txBody>
      </p:sp>
      <p:sp>
        <p:nvSpPr>
          <p:cNvPr id="2008858583" name="Text 4"/>
          <p:cNvSpPr/>
          <p:nvPr/>
        </p:nvSpPr>
        <p:spPr bwMode="auto">
          <a:xfrm>
            <a:off x="793790" y="3907512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Один HTML-элемент вместо десятков пикселей</a:t>
            </a:r>
            <a:endParaRPr lang="en-US" sz="1750"/>
          </a:p>
        </p:txBody>
      </p:sp>
      <p:sp>
        <p:nvSpPr>
          <p:cNvPr id="469331181" name="Text 5"/>
          <p:cNvSpPr/>
          <p:nvPr/>
        </p:nvSpPr>
        <p:spPr bwMode="auto">
          <a:xfrm>
            <a:off x="793790" y="4349710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Векторная четкость при любом масштабе</a:t>
            </a:r>
            <a:endParaRPr lang="en-US" sz="1750"/>
          </a:p>
        </p:txBody>
      </p:sp>
      <p:sp>
        <p:nvSpPr>
          <p:cNvPr id="1280900221" name="Text 6"/>
          <p:cNvSpPr/>
          <p:nvPr/>
        </p:nvSpPr>
        <p:spPr bwMode="auto">
          <a:xfrm>
            <a:off x="793790" y="4791908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Нулевое время загрузки — код встроен в CSS</a:t>
            </a:r>
            <a:endParaRPr lang="en-US" sz="1750"/>
          </a:p>
        </p:txBody>
      </p:sp>
      <p:sp>
        <p:nvSpPr>
          <p:cNvPr id="2089217949" name="Text 7"/>
          <p:cNvSpPr/>
          <p:nvPr/>
        </p:nvSpPr>
        <p:spPr bwMode="auto">
          <a:xfrm>
            <a:off x="793790" y="5234106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Полный контроль через JavaScript</a:t>
            </a:r>
            <a:endParaRPr lang="en-US" sz="1750"/>
          </a:p>
        </p:txBody>
      </p:sp>
      <p:sp>
        <p:nvSpPr>
          <p:cNvPr id="359479317" name="Shape 8"/>
          <p:cNvSpPr/>
          <p:nvPr/>
        </p:nvSpPr>
        <p:spPr bwMode="auto">
          <a:xfrm>
            <a:off x="8959096" y="3283744"/>
            <a:ext cx="4885015" cy="3243263"/>
          </a:xfrm>
          <a:prstGeom prst="roundRect">
            <a:avLst>
              <a:gd name="adj" fmla="val 1049"/>
            </a:avLst>
          </a:prstGeom>
          <a:solidFill>
            <a:srgbClr val="36393F"/>
          </a:solidFill>
          <a:ln/>
        </p:spPr>
      </p:sp>
      <p:sp>
        <p:nvSpPr>
          <p:cNvPr id="1781049219" name="Shape 9"/>
          <p:cNvSpPr/>
          <p:nvPr/>
        </p:nvSpPr>
        <p:spPr bwMode="auto">
          <a:xfrm>
            <a:off x="8947785" y="3283744"/>
            <a:ext cx="4907637" cy="3243263"/>
          </a:xfrm>
          <a:prstGeom prst="roundRect">
            <a:avLst>
              <a:gd name="adj" fmla="val 1049"/>
            </a:avLst>
          </a:prstGeom>
          <a:solidFill>
            <a:srgbClr val="36393F"/>
          </a:solidFill>
          <a:ln/>
        </p:spPr>
      </p:sp>
      <p:sp>
        <p:nvSpPr>
          <p:cNvPr id="403448618" name="Text 10"/>
          <p:cNvSpPr/>
          <p:nvPr/>
        </p:nvSpPr>
        <p:spPr bwMode="auto">
          <a:xfrm>
            <a:off x="9174599" y="3453765"/>
            <a:ext cx="4454009" cy="290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div {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width: 1px;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height: 1px;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box-shadow: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0px 0px 0 10px #000,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10px 0px 0 10px #fff,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20px 0px 0 10px #000;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}</a:t>
            </a:r>
            <a:endParaRPr lang="en-US" sz="1750"/>
          </a:p>
        </p:txBody>
      </p:sp>
      <p:pic>
        <p:nvPicPr>
          <p:cNvPr id="118322787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37142" y="7540624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20937" name="Text 0"/>
          <p:cNvSpPr/>
          <p:nvPr/>
        </p:nvSpPr>
        <p:spPr bwMode="auto">
          <a:xfrm>
            <a:off x="793790" y="1189434"/>
            <a:ext cx="603551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Технологический стек</a:t>
            </a:r>
            <a:endParaRPr lang="en-US" sz="4450"/>
          </a:p>
        </p:txBody>
      </p:sp>
      <p:sp>
        <p:nvSpPr>
          <p:cNvPr id="210562421" name="Shape 1"/>
          <p:cNvSpPr/>
          <p:nvPr/>
        </p:nvSpPr>
        <p:spPr bwMode="auto">
          <a:xfrm>
            <a:off x="793790" y="2692003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292C32"/>
          </a:solidFill>
          <a:ln/>
        </p:spPr>
      </p:sp>
      <p:sp>
        <p:nvSpPr>
          <p:cNvPr id="659272408" name="Shape 2"/>
          <p:cNvSpPr/>
          <p:nvPr/>
        </p:nvSpPr>
        <p:spPr bwMode="auto">
          <a:xfrm>
            <a:off x="793790" y="2661523"/>
            <a:ext cx="4196358" cy="121920"/>
          </a:xfrm>
          <a:prstGeom prst="roundRect">
            <a:avLst>
              <a:gd name="adj" fmla="val 27907"/>
            </a:avLst>
          </a:prstGeom>
          <a:solidFill>
            <a:srgbClr val="FFBC8F"/>
          </a:solidFill>
          <a:ln/>
        </p:spPr>
      </p:sp>
      <p:sp>
        <p:nvSpPr>
          <p:cNvPr id="328940922" name="Shape 3"/>
          <p:cNvSpPr/>
          <p:nvPr/>
        </p:nvSpPr>
        <p:spPr bwMode="auto">
          <a:xfrm>
            <a:off x="2551687" y="2351842"/>
            <a:ext cx="680441" cy="680441"/>
          </a:xfrm>
          <a:prstGeom prst="roundRect">
            <a:avLst>
              <a:gd name="adj" fmla="val 134383"/>
            </a:avLst>
          </a:prstGeom>
          <a:solidFill>
            <a:srgbClr val="FFBC8F"/>
          </a:solidFill>
          <a:ln/>
        </p:spPr>
      </p:sp>
      <p:sp>
        <p:nvSpPr>
          <p:cNvPr id="1665570445" name="Text 4"/>
          <p:cNvSpPr/>
          <p:nvPr/>
        </p:nvSpPr>
        <p:spPr bwMode="auto">
          <a:xfrm>
            <a:off x="2755761" y="2521982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  <a:defRPr/>
            </a:pPr>
            <a:r>
              <a:rPr lang="en-US" sz="2100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</a:rPr>
              <a:t>1</a:t>
            </a:r>
            <a:endParaRPr lang="en-US" sz="2100"/>
          </a:p>
        </p:txBody>
      </p:sp>
      <p:sp>
        <p:nvSpPr>
          <p:cNvPr id="1162462955" name="Text 5"/>
          <p:cNvSpPr/>
          <p:nvPr/>
        </p:nvSpPr>
        <p:spPr bwMode="auto">
          <a:xfrm>
            <a:off x="1051084" y="32589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HTML5 Canvas</a:t>
            </a:r>
            <a:endParaRPr lang="en-US" sz="2200"/>
          </a:p>
        </p:txBody>
      </p:sp>
      <p:sp>
        <p:nvSpPr>
          <p:cNvPr id="225573947" name="Text 6"/>
          <p:cNvSpPr/>
          <p:nvPr/>
        </p:nvSpPr>
        <p:spPr bwMode="auto">
          <a:xfrm>
            <a:off x="1051084" y="3749397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Семантическая структура документа с минимальной разметкой для максимальной производительности</a:t>
            </a:r>
            <a:endParaRPr lang="en-US" sz="1750"/>
          </a:p>
        </p:txBody>
      </p:sp>
      <p:sp>
        <p:nvSpPr>
          <p:cNvPr id="1159908536" name="Shape 7"/>
          <p:cNvSpPr/>
          <p:nvPr/>
        </p:nvSpPr>
        <p:spPr bwMode="auto">
          <a:xfrm>
            <a:off x="5216962" y="2692003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292C32"/>
          </a:solidFill>
          <a:ln/>
        </p:spPr>
      </p:sp>
      <p:sp>
        <p:nvSpPr>
          <p:cNvPr id="1176301596" name="Shape 8"/>
          <p:cNvSpPr/>
          <p:nvPr/>
        </p:nvSpPr>
        <p:spPr bwMode="auto">
          <a:xfrm>
            <a:off x="5216962" y="2661523"/>
            <a:ext cx="4196358" cy="121920"/>
          </a:xfrm>
          <a:prstGeom prst="roundRect">
            <a:avLst>
              <a:gd name="adj" fmla="val 27907"/>
            </a:avLst>
          </a:prstGeom>
          <a:solidFill>
            <a:srgbClr val="FFBC8F"/>
          </a:solidFill>
          <a:ln/>
        </p:spPr>
      </p:sp>
      <p:sp>
        <p:nvSpPr>
          <p:cNvPr id="1967713792" name="Shape 9"/>
          <p:cNvSpPr/>
          <p:nvPr/>
        </p:nvSpPr>
        <p:spPr bwMode="auto">
          <a:xfrm>
            <a:off x="6974860" y="2351842"/>
            <a:ext cx="680441" cy="680441"/>
          </a:xfrm>
          <a:prstGeom prst="roundRect">
            <a:avLst>
              <a:gd name="adj" fmla="val 134383"/>
            </a:avLst>
          </a:prstGeom>
          <a:solidFill>
            <a:srgbClr val="FFBC8F"/>
          </a:solidFill>
          <a:ln/>
        </p:spPr>
      </p:sp>
      <p:sp>
        <p:nvSpPr>
          <p:cNvPr id="1257957939" name="Text 10"/>
          <p:cNvSpPr/>
          <p:nvPr/>
        </p:nvSpPr>
        <p:spPr bwMode="auto">
          <a:xfrm>
            <a:off x="7178933" y="2521982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  <a:defRPr/>
            </a:pPr>
            <a:r>
              <a:rPr lang="en-US" sz="2100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</a:rPr>
              <a:t>2</a:t>
            </a:r>
            <a:endParaRPr lang="en-US" sz="2100"/>
          </a:p>
        </p:txBody>
      </p:sp>
      <p:sp>
        <p:nvSpPr>
          <p:cNvPr id="416079055" name="Text 11"/>
          <p:cNvSpPr/>
          <p:nvPr/>
        </p:nvSpPr>
        <p:spPr bwMode="auto">
          <a:xfrm>
            <a:off x="5474256" y="32589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CSS3 Grid &amp; Flexbox</a:t>
            </a:r>
            <a:endParaRPr lang="en-US" sz="2200"/>
          </a:p>
        </p:txBody>
      </p:sp>
      <p:sp>
        <p:nvSpPr>
          <p:cNvPr id="1124993461" name="Text 12"/>
          <p:cNvSpPr/>
          <p:nvPr/>
        </p:nvSpPr>
        <p:spPr bwMode="auto">
          <a:xfrm>
            <a:off x="5474256" y="3749397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Адаптивная сетка рисования с точным позиционированием каждого пикселя через современные layout-системы</a:t>
            </a:r>
            <a:endParaRPr lang="en-US" sz="1750"/>
          </a:p>
        </p:txBody>
      </p:sp>
      <p:sp>
        <p:nvSpPr>
          <p:cNvPr id="364680049" name="Shape 13"/>
          <p:cNvSpPr/>
          <p:nvPr/>
        </p:nvSpPr>
        <p:spPr bwMode="auto">
          <a:xfrm>
            <a:off x="9640133" y="2692003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292C32"/>
          </a:solidFill>
          <a:ln/>
        </p:spPr>
      </p:sp>
      <p:sp>
        <p:nvSpPr>
          <p:cNvPr id="18947632" name="Shape 14"/>
          <p:cNvSpPr/>
          <p:nvPr/>
        </p:nvSpPr>
        <p:spPr bwMode="auto">
          <a:xfrm>
            <a:off x="9640133" y="2661523"/>
            <a:ext cx="4196358" cy="121920"/>
          </a:xfrm>
          <a:prstGeom prst="roundRect">
            <a:avLst>
              <a:gd name="adj" fmla="val 27907"/>
            </a:avLst>
          </a:prstGeom>
          <a:solidFill>
            <a:srgbClr val="FFBC8F"/>
          </a:solidFill>
          <a:ln/>
        </p:spPr>
      </p:sp>
      <p:sp>
        <p:nvSpPr>
          <p:cNvPr id="1992806736" name="Shape 15"/>
          <p:cNvSpPr/>
          <p:nvPr/>
        </p:nvSpPr>
        <p:spPr bwMode="auto">
          <a:xfrm>
            <a:off x="11398032" y="2351842"/>
            <a:ext cx="680441" cy="680441"/>
          </a:xfrm>
          <a:prstGeom prst="roundRect">
            <a:avLst>
              <a:gd name="adj" fmla="val 134383"/>
            </a:avLst>
          </a:prstGeom>
          <a:solidFill>
            <a:srgbClr val="FFBC8F"/>
          </a:solidFill>
          <a:ln/>
        </p:spPr>
      </p:sp>
      <p:sp>
        <p:nvSpPr>
          <p:cNvPr id="1593024989" name="Text 16"/>
          <p:cNvSpPr/>
          <p:nvPr/>
        </p:nvSpPr>
        <p:spPr bwMode="auto">
          <a:xfrm>
            <a:off x="11602105" y="2521982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  <a:defRPr/>
            </a:pPr>
            <a:r>
              <a:rPr lang="en-US" sz="2100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</a:rPr>
              <a:t>3</a:t>
            </a:r>
            <a:endParaRPr lang="en-US" sz="2100"/>
          </a:p>
        </p:txBody>
      </p:sp>
      <p:sp>
        <p:nvSpPr>
          <p:cNvPr id="1491200892" name="Text 17"/>
          <p:cNvSpPr/>
          <p:nvPr/>
        </p:nvSpPr>
        <p:spPr bwMode="auto">
          <a:xfrm>
            <a:off x="9897427" y="3258979"/>
            <a:ext cx="305871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Vanilla JavaScript ES6+</a:t>
            </a:r>
            <a:endParaRPr lang="en-US" sz="2200"/>
          </a:p>
        </p:txBody>
      </p:sp>
      <p:sp>
        <p:nvSpPr>
          <p:cNvPr id="1167817558" name="Text 18"/>
          <p:cNvSpPr/>
          <p:nvPr/>
        </p:nvSpPr>
        <p:spPr bwMode="auto">
          <a:xfrm>
            <a:off x="9897427" y="3749397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Чистый код без зависимостей: стрелочные функции, деструктуризация, модули и событийная модель</a:t>
            </a:r>
            <a:endParaRPr lang="en-US" sz="1750"/>
          </a:p>
        </p:txBody>
      </p:sp>
      <p:sp>
        <p:nvSpPr>
          <p:cNvPr id="1141927698" name="Shape 19"/>
          <p:cNvSpPr/>
          <p:nvPr/>
        </p:nvSpPr>
        <p:spPr bwMode="auto">
          <a:xfrm>
            <a:off x="793790" y="5713452"/>
            <a:ext cx="13042821" cy="1326712"/>
          </a:xfrm>
          <a:prstGeom prst="roundRect">
            <a:avLst>
              <a:gd name="adj" fmla="val 2565"/>
            </a:avLst>
          </a:prstGeom>
          <a:solidFill>
            <a:srgbClr val="4D1F00"/>
          </a:solidFill>
          <a:ln/>
        </p:spPr>
      </p:sp>
      <p:pic>
        <p:nvPicPr>
          <p:cNvPr id="127818061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20604" y="6057543"/>
            <a:ext cx="283488" cy="226814"/>
          </a:xfrm>
          <a:prstGeom prst="rect">
            <a:avLst/>
          </a:prstGeom>
        </p:spPr>
      </p:pic>
      <p:sp>
        <p:nvSpPr>
          <p:cNvPr id="344502592" name="Text 20"/>
          <p:cNvSpPr/>
          <p:nvPr/>
        </p:nvSpPr>
        <p:spPr bwMode="auto">
          <a:xfrm>
            <a:off x="1530906" y="5996940"/>
            <a:ext cx="120788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Zero Dependencies</a:t>
            </a:r>
            <a:r>
              <a:rPr lang="en-US" sz="175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— проект работает без внешних библиотек, обеспечивая скорость и полный контроль над кодом</a:t>
            </a:r>
            <a:endParaRPr lang="en-US" sz="1750"/>
          </a:p>
        </p:txBody>
      </p:sp>
      <p:pic>
        <p:nvPicPr>
          <p:cNvPr id="195699508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382499" y="7540624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767709" name="Text 0"/>
          <p:cNvSpPr/>
          <p:nvPr/>
        </p:nvSpPr>
        <p:spPr bwMode="auto">
          <a:xfrm>
            <a:off x="1176338" y="533757"/>
            <a:ext cx="7130772" cy="6066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50"/>
              </a:lnSpc>
              <a:buNone/>
              <a:defRPr/>
            </a:pPr>
            <a:r>
              <a:rPr lang="en-US" sz="380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Алгоритм генерации CSS-кода</a:t>
            </a:r>
            <a:endParaRPr lang="en-US" sz="3800"/>
          </a:p>
        </p:txBody>
      </p:sp>
      <p:pic>
        <p:nvPicPr>
          <p:cNvPr id="51205042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76338" y="1528524"/>
            <a:ext cx="4092535" cy="776407"/>
          </a:xfrm>
          <a:prstGeom prst="rect">
            <a:avLst/>
          </a:prstGeom>
        </p:spPr>
      </p:pic>
      <p:sp>
        <p:nvSpPr>
          <p:cNvPr id="1707036347" name="Text 1"/>
          <p:cNvSpPr/>
          <p:nvPr/>
        </p:nvSpPr>
        <p:spPr bwMode="auto">
          <a:xfrm>
            <a:off x="1370409" y="2499002"/>
            <a:ext cx="2426375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Сетка 16×16</a:t>
            </a:r>
            <a:endParaRPr lang="en-US" sz="1900"/>
          </a:p>
        </p:txBody>
      </p:sp>
      <p:sp>
        <p:nvSpPr>
          <p:cNvPr id="1804248948" name="Text 2"/>
          <p:cNvSpPr/>
          <p:nvPr/>
        </p:nvSpPr>
        <p:spPr bwMode="auto">
          <a:xfrm>
            <a:off x="1370409" y="2918698"/>
            <a:ext cx="3704392" cy="62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Двумерный массив хранит состояние каждой ячейки и её цвет</a:t>
            </a:r>
            <a:endParaRPr lang="en-US" sz="1500"/>
          </a:p>
        </p:txBody>
      </p:sp>
      <p:pic>
        <p:nvPicPr>
          <p:cNvPr id="204994793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268873" y="1528524"/>
            <a:ext cx="4092535" cy="776407"/>
          </a:xfrm>
          <a:prstGeom prst="rect">
            <a:avLst/>
          </a:prstGeom>
        </p:spPr>
      </p:pic>
      <p:sp>
        <p:nvSpPr>
          <p:cNvPr id="686858161" name="Text 3"/>
          <p:cNvSpPr/>
          <p:nvPr/>
        </p:nvSpPr>
        <p:spPr bwMode="auto">
          <a:xfrm>
            <a:off x="5462945" y="2499002"/>
            <a:ext cx="2426375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Расчет координат</a:t>
            </a:r>
            <a:endParaRPr lang="en-US" sz="1900"/>
          </a:p>
        </p:txBody>
      </p:sp>
      <p:sp>
        <p:nvSpPr>
          <p:cNvPr id="278305011" name="Text 4"/>
          <p:cNvSpPr/>
          <p:nvPr/>
        </p:nvSpPr>
        <p:spPr bwMode="auto">
          <a:xfrm>
            <a:off x="5462945" y="2918698"/>
            <a:ext cx="3704392" cy="62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Математическое вычисление позиций X и Y для каждого закрашенного пикселя</a:t>
            </a:r>
            <a:endParaRPr lang="en-US" sz="1500"/>
          </a:p>
        </p:txBody>
      </p:sp>
      <p:pic>
        <p:nvPicPr>
          <p:cNvPr id="341447026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361407" y="1528524"/>
            <a:ext cx="4092535" cy="776407"/>
          </a:xfrm>
          <a:prstGeom prst="rect">
            <a:avLst/>
          </a:prstGeom>
        </p:spPr>
      </p:pic>
      <p:sp>
        <p:nvSpPr>
          <p:cNvPr id="181860928" name="Text 5"/>
          <p:cNvSpPr/>
          <p:nvPr/>
        </p:nvSpPr>
        <p:spPr bwMode="auto">
          <a:xfrm>
            <a:off x="9555480" y="2499002"/>
            <a:ext cx="2634139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Генерация box-shadow</a:t>
            </a:r>
            <a:endParaRPr lang="en-US" sz="1900"/>
          </a:p>
        </p:txBody>
      </p:sp>
      <p:sp>
        <p:nvSpPr>
          <p:cNvPr id="1886777404" name="Text 6"/>
          <p:cNvSpPr/>
          <p:nvPr/>
        </p:nvSpPr>
        <p:spPr bwMode="auto">
          <a:xfrm>
            <a:off x="9555480" y="2918698"/>
            <a:ext cx="3704392" cy="931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Формирование CSS-строки с множественными тенями для всех активных точек</a:t>
            </a:r>
            <a:endParaRPr lang="en-US" sz="1500"/>
          </a:p>
        </p:txBody>
      </p:sp>
      <p:sp>
        <p:nvSpPr>
          <p:cNvPr id="1398691784" name="Shape 7"/>
          <p:cNvSpPr/>
          <p:nvPr/>
        </p:nvSpPr>
        <p:spPr bwMode="auto">
          <a:xfrm>
            <a:off x="1176338" y="4359663"/>
            <a:ext cx="12277725" cy="31790"/>
          </a:xfrm>
          <a:prstGeom prst="rect">
            <a:avLst/>
          </a:prstGeom>
          <a:solidFill>
            <a:srgbClr val="D4D4D1">
              <a:alpha val="50000"/>
            </a:srgbClr>
          </a:solidFill>
          <a:ln/>
        </p:spPr>
      </p:sp>
      <p:sp>
        <p:nvSpPr>
          <p:cNvPr id="1384168288" name="Text 8"/>
          <p:cNvSpPr/>
          <p:nvPr/>
        </p:nvSpPr>
        <p:spPr bwMode="auto">
          <a:xfrm>
            <a:off x="1176338" y="4803815"/>
            <a:ext cx="2426375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Входные данные</a:t>
            </a:r>
            <a:endParaRPr lang="en-US" sz="1900"/>
          </a:p>
        </p:txBody>
      </p:sp>
      <p:sp>
        <p:nvSpPr>
          <p:cNvPr id="1128202043" name="Shape 9"/>
          <p:cNvSpPr/>
          <p:nvPr/>
        </p:nvSpPr>
        <p:spPr bwMode="auto">
          <a:xfrm>
            <a:off x="1176338" y="5325428"/>
            <a:ext cx="5902047" cy="1843564"/>
          </a:xfrm>
          <a:prstGeom prst="roundRect">
            <a:avLst>
              <a:gd name="adj" fmla="val 1579"/>
            </a:avLst>
          </a:prstGeom>
          <a:solidFill>
            <a:srgbClr val="36393F"/>
          </a:solidFill>
          <a:ln/>
        </p:spPr>
      </p:sp>
      <p:sp>
        <p:nvSpPr>
          <p:cNvPr id="78883683" name="Shape 10"/>
          <p:cNvSpPr/>
          <p:nvPr/>
        </p:nvSpPr>
        <p:spPr bwMode="auto">
          <a:xfrm>
            <a:off x="1166693" y="5325428"/>
            <a:ext cx="5921335" cy="1843564"/>
          </a:xfrm>
          <a:prstGeom prst="roundRect">
            <a:avLst>
              <a:gd name="adj" fmla="val 1579"/>
            </a:avLst>
          </a:prstGeom>
          <a:solidFill>
            <a:srgbClr val="36393F"/>
          </a:solidFill>
          <a:ln/>
        </p:spPr>
      </p:sp>
      <p:sp>
        <p:nvSpPr>
          <p:cNvPr id="368100112" name="Text 11"/>
          <p:cNvSpPr/>
          <p:nvPr/>
        </p:nvSpPr>
        <p:spPr bwMode="auto">
          <a:xfrm>
            <a:off x="1360765" y="5470922"/>
            <a:ext cx="5533192" cy="1552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grid = [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 [0,1,0],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 [1,1,1],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 [0,1,0]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]</a:t>
            </a:r>
            <a:endParaRPr lang="en-US" sz="1500"/>
          </a:p>
        </p:txBody>
      </p:sp>
      <p:sp>
        <p:nvSpPr>
          <p:cNvPr id="504190404" name="Text 12"/>
          <p:cNvSpPr/>
          <p:nvPr/>
        </p:nvSpPr>
        <p:spPr bwMode="auto">
          <a:xfrm>
            <a:off x="7559635" y="4803815"/>
            <a:ext cx="2426375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Результат</a:t>
            </a:r>
            <a:endParaRPr lang="en-US" sz="1900"/>
          </a:p>
        </p:txBody>
      </p:sp>
      <p:sp>
        <p:nvSpPr>
          <p:cNvPr id="1109652532" name="Shape 13"/>
          <p:cNvSpPr/>
          <p:nvPr/>
        </p:nvSpPr>
        <p:spPr bwMode="auto">
          <a:xfrm>
            <a:off x="7559635" y="5325428"/>
            <a:ext cx="5902047" cy="2154079"/>
          </a:xfrm>
          <a:prstGeom prst="roundRect">
            <a:avLst>
              <a:gd name="adj" fmla="val 1352"/>
            </a:avLst>
          </a:prstGeom>
          <a:solidFill>
            <a:srgbClr val="36393F"/>
          </a:solidFill>
          <a:ln/>
        </p:spPr>
      </p:sp>
      <p:sp>
        <p:nvSpPr>
          <p:cNvPr id="449348038" name="Shape 14"/>
          <p:cNvSpPr/>
          <p:nvPr/>
        </p:nvSpPr>
        <p:spPr bwMode="auto">
          <a:xfrm>
            <a:off x="7549991" y="5325428"/>
            <a:ext cx="5921335" cy="2154079"/>
          </a:xfrm>
          <a:prstGeom prst="roundRect">
            <a:avLst>
              <a:gd name="adj" fmla="val 1352"/>
            </a:avLst>
          </a:prstGeom>
          <a:solidFill>
            <a:srgbClr val="36393F"/>
          </a:solidFill>
          <a:ln/>
        </p:spPr>
      </p:sp>
      <p:sp>
        <p:nvSpPr>
          <p:cNvPr id="1129671365" name="Text 15"/>
          <p:cNvSpPr/>
          <p:nvPr/>
        </p:nvSpPr>
        <p:spPr bwMode="auto">
          <a:xfrm>
            <a:off x="7744063" y="5470922"/>
            <a:ext cx="5533192" cy="1863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box-shadow: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10px 0px 0 5px #000,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0px 10px 0 5px #000,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10px 10px 0 5px #000,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20px 10px 0 5px #000,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10px 20px 0 5px #000;</a:t>
            </a:r>
            <a:endParaRPr lang="en-US" sz="1500"/>
          </a:p>
        </p:txBody>
      </p:sp>
      <p:pic>
        <p:nvPicPr>
          <p:cNvPr id="47822277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2280446" y="7540624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722887" name="Text 0"/>
          <p:cNvSpPr/>
          <p:nvPr/>
        </p:nvSpPr>
        <p:spPr bwMode="auto">
          <a:xfrm>
            <a:off x="793790" y="1240036"/>
            <a:ext cx="862203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Функциональные возможности</a:t>
            </a:r>
            <a:endParaRPr lang="en-US" sz="4450"/>
          </a:p>
        </p:txBody>
      </p:sp>
      <p:pic>
        <p:nvPicPr>
          <p:cNvPr id="1504519607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793790" y="2402442"/>
            <a:ext cx="566976" cy="566976"/>
          </a:xfrm>
          <a:prstGeom prst="rect">
            <a:avLst/>
          </a:prstGeom>
        </p:spPr>
      </p:pic>
      <p:sp>
        <p:nvSpPr>
          <p:cNvPr id="2048962777" name="Text 1"/>
          <p:cNvSpPr/>
          <p:nvPr/>
        </p:nvSpPr>
        <p:spPr bwMode="auto">
          <a:xfrm>
            <a:off x="793790" y="325290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Рисование</a:t>
            </a:r>
            <a:endParaRPr lang="en-US" sz="2200"/>
          </a:p>
        </p:txBody>
      </p:sp>
      <p:sp>
        <p:nvSpPr>
          <p:cNvPr id="919460768" name="Text 2"/>
          <p:cNvSpPr/>
          <p:nvPr/>
        </p:nvSpPr>
        <p:spPr bwMode="auto">
          <a:xfrm>
            <a:off x="793790" y="3743325"/>
            <a:ext cx="637960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Интуитивное рисование левой кнопкой мыши с поддержкой drag-событий для непрерывных линий</a:t>
            </a:r>
            <a:endParaRPr lang="en-US" sz="1750"/>
          </a:p>
        </p:txBody>
      </p:sp>
      <p:pic>
        <p:nvPicPr>
          <p:cNvPr id="810842626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7456884" y="2402442"/>
            <a:ext cx="566976" cy="566976"/>
          </a:xfrm>
          <a:prstGeom prst="rect">
            <a:avLst/>
          </a:prstGeom>
        </p:spPr>
      </p:pic>
      <p:sp>
        <p:nvSpPr>
          <p:cNvPr id="1354135834" name="Text 3"/>
          <p:cNvSpPr/>
          <p:nvPr/>
        </p:nvSpPr>
        <p:spPr bwMode="auto">
          <a:xfrm>
            <a:off x="7456884" y="325290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Ластик</a:t>
            </a:r>
            <a:endParaRPr lang="en-US" sz="2200"/>
          </a:p>
        </p:txBody>
      </p:sp>
      <p:sp>
        <p:nvSpPr>
          <p:cNvPr id="1284813517" name="Text 4"/>
          <p:cNvSpPr/>
          <p:nvPr/>
        </p:nvSpPr>
        <p:spPr bwMode="auto">
          <a:xfrm>
            <a:off x="7456884" y="3743325"/>
            <a:ext cx="63797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Удаление пикселей правой кнопкой мыши с блокировкой контекстного меню для удобства работы</a:t>
            </a:r>
            <a:endParaRPr lang="en-US" sz="1750"/>
          </a:p>
        </p:txBody>
      </p:sp>
      <p:pic>
        <p:nvPicPr>
          <p:cNvPr id="133848874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793790" y="4922758"/>
            <a:ext cx="566976" cy="566976"/>
          </a:xfrm>
          <a:prstGeom prst="rect">
            <a:avLst/>
          </a:prstGeom>
        </p:spPr>
      </p:pic>
      <p:sp>
        <p:nvSpPr>
          <p:cNvPr id="1174923484" name="Text 5"/>
          <p:cNvSpPr/>
          <p:nvPr/>
        </p:nvSpPr>
        <p:spPr bwMode="auto">
          <a:xfrm>
            <a:off x="793790" y="577322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Выбор цвета</a:t>
            </a:r>
            <a:endParaRPr lang="en-US" sz="2200"/>
          </a:p>
        </p:txBody>
      </p:sp>
      <p:sp>
        <p:nvSpPr>
          <p:cNvPr id="579636798" name="Text 6"/>
          <p:cNvSpPr/>
          <p:nvPr/>
        </p:nvSpPr>
        <p:spPr bwMode="auto">
          <a:xfrm>
            <a:off x="793790" y="6263640"/>
            <a:ext cx="637960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Встроенный Color Picker с поддержкой HEX, RGB и HSL для точного подбора оттенков</a:t>
            </a:r>
            <a:endParaRPr lang="en-US" sz="1750"/>
          </a:p>
        </p:txBody>
      </p:sp>
      <p:pic>
        <p:nvPicPr>
          <p:cNvPr id="1758615195" name="Image 3" descr="preencoded.png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>
            <a:off x="7456884" y="4922758"/>
            <a:ext cx="566976" cy="566976"/>
          </a:xfrm>
          <a:prstGeom prst="rect">
            <a:avLst/>
          </a:prstGeom>
        </p:spPr>
      </p:pic>
      <p:sp>
        <p:nvSpPr>
          <p:cNvPr id="2096473842" name="Text 7"/>
          <p:cNvSpPr/>
          <p:nvPr/>
        </p:nvSpPr>
        <p:spPr bwMode="auto">
          <a:xfrm>
            <a:off x="7456884" y="577322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Live Preview</a:t>
            </a:r>
            <a:endParaRPr lang="en-US" sz="2200"/>
          </a:p>
        </p:txBody>
      </p:sp>
      <p:sp>
        <p:nvSpPr>
          <p:cNvPr id="1476828769" name="Text 8"/>
          <p:cNvSpPr/>
          <p:nvPr/>
        </p:nvSpPr>
        <p:spPr bwMode="auto">
          <a:xfrm>
            <a:off x="7456884" y="6263640"/>
            <a:ext cx="63797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Мгновенная генерация и превью CSS-кода в реальном времени при каждом изменении холста</a:t>
            </a:r>
            <a:endParaRPr lang="en-US" sz="1750"/>
          </a:p>
        </p:txBody>
      </p:sp>
      <p:pic>
        <p:nvPicPr>
          <p:cNvPr id="1932312234" name="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12393839" y="7517946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488225" name="Shape 0"/>
          <p:cNvSpPr/>
          <p:nvPr/>
        </p:nvSpPr>
        <p:spPr bwMode="auto">
          <a:xfrm>
            <a:off x="1693544" y="488752"/>
            <a:ext cx="1368266" cy="333851"/>
          </a:xfrm>
          <a:prstGeom prst="roundRect">
            <a:avLst>
              <a:gd name="adj" fmla="val 6389"/>
            </a:avLst>
          </a:prstGeom>
          <a:solidFill>
            <a:srgbClr val="4D1F00"/>
          </a:solidFill>
          <a:ln/>
        </p:spPr>
      </p:sp>
      <p:sp>
        <p:nvSpPr>
          <p:cNvPr id="203695680" name="Text 1"/>
          <p:cNvSpPr/>
          <p:nvPr/>
        </p:nvSpPr>
        <p:spPr bwMode="auto">
          <a:xfrm>
            <a:off x="1800106" y="541972"/>
            <a:ext cx="1155144" cy="227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  <a:defRPr/>
            </a:pPr>
            <a:r>
              <a:rPr lang="en-US" sz="11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ДЕМОНСТРАЦИЯ</a:t>
            </a:r>
            <a:endParaRPr lang="en-US" sz="1100"/>
          </a:p>
        </p:txBody>
      </p:sp>
      <p:sp>
        <p:nvSpPr>
          <p:cNvPr id="1950599178" name="Text 2"/>
          <p:cNvSpPr/>
          <p:nvPr/>
        </p:nvSpPr>
        <p:spPr bwMode="auto">
          <a:xfrm>
            <a:off x="1693544" y="1200150"/>
            <a:ext cx="5159216" cy="555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50"/>
              </a:lnSpc>
              <a:buNone/>
              <a:defRPr/>
            </a:pPr>
            <a:r>
              <a:rPr lang="en-US" sz="3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Интерфейс приложения</a:t>
            </a:r>
            <a:endParaRPr lang="en-US" sz="3450"/>
          </a:p>
        </p:txBody>
      </p:sp>
      <p:pic>
        <p:nvPicPr>
          <p:cNvPr id="167786050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123396" y="1222415"/>
            <a:ext cx="4820841" cy="3450431"/>
          </a:xfrm>
          <a:prstGeom prst="rect">
            <a:avLst/>
          </a:prstGeom>
        </p:spPr>
      </p:pic>
      <p:sp>
        <p:nvSpPr>
          <p:cNvPr id="1483459230" name="Text 3"/>
          <p:cNvSpPr/>
          <p:nvPr/>
        </p:nvSpPr>
        <p:spPr bwMode="auto">
          <a:xfrm>
            <a:off x="1693544" y="5072658"/>
            <a:ext cx="177641" cy="222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IBM Plex Sans Light"/>
                <a:ea typeface="IBM Plex Sans Light"/>
                <a:cs typeface="IBM Plex Sans Light"/>
              </a:rPr>
              <a:t>01</a:t>
            </a:r>
            <a:endParaRPr lang="en-US" sz="1350"/>
          </a:p>
        </p:txBody>
      </p:sp>
      <p:sp>
        <p:nvSpPr>
          <p:cNvPr id="725610951" name="Shape 4"/>
          <p:cNvSpPr/>
          <p:nvPr/>
        </p:nvSpPr>
        <p:spPr bwMode="auto">
          <a:xfrm>
            <a:off x="1693544" y="5351859"/>
            <a:ext cx="3629262" cy="22860"/>
          </a:xfrm>
          <a:prstGeom prst="rect">
            <a:avLst/>
          </a:prstGeom>
          <a:solidFill>
            <a:srgbClr val="FFBC8F"/>
          </a:solidFill>
          <a:ln/>
        </p:spPr>
      </p:sp>
      <p:sp>
        <p:nvSpPr>
          <p:cNvPr id="1394581341" name="Text 5"/>
          <p:cNvSpPr/>
          <p:nvPr/>
        </p:nvSpPr>
        <p:spPr bwMode="auto">
          <a:xfrm>
            <a:off x="1693544" y="5486400"/>
            <a:ext cx="2230398" cy="277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  <a:defRPr/>
            </a:pPr>
            <a:r>
              <a:rPr lang="en-US" sz="17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Рисование смайлика</a:t>
            </a:r>
            <a:endParaRPr lang="en-US" sz="1700"/>
          </a:p>
        </p:txBody>
      </p:sp>
      <p:sp>
        <p:nvSpPr>
          <p:cNvPr id="1855859971" name="Text 6"/>
          <p:cNvSpPr/>
          <p:nvPr/>
        </p:nvSpPr>
        <p:spPr bwMode="auto">
          <a:xfrm>
            <a:off x="1693544" y="5870615"/>
            <a:ext cx="3629262" cy="852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Создание простого emoji на сетке 16×16 пикселей с использованием желтого цвета</a:t>
            </a:r>
            <a:endParaRPr lang="en-US" sz="1350"/>
          </a:p>
        </p:txBody>
      </p:sp>
      <p:sp>
        <p:nvSpPr>
          <p:cNvPr id="367093685" name="Text 7"/>
          <p:cNvSpPr/>
          <p:nvPr/>
        </p:nvSpPr>
        <p:spPr bwMode="auto">
          <a:xfrm>
            <a:off x="5500448" y="5072658"/>
            <a:ext cx="177641" cy="222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IBM Plex Sans Light"/>
                <a:ea typeface="IBM Plex Sans Light"/>
                <a:cs typeface="IBM Plex Sans Light"/>
              </a:rPr>
              <a:t>02</a:t>
            </a:r>
            <a:endParaRPr lang="en-US" sz="1350"/>
          </a:p>
        </p:txBody>
      </p:sp>
      <p:sp>
        <p:nvSpPr>
          <p:cNvPr id="1066380968" name="Shape 8"/>
          <p:cNvSpPr/>
          <p:nvPr/>
        </p:nvSpPr>
        <p:spPr bwMode="auto">
          <a:xfrm>
            <a:off x="5500448" y="5351859"/>
            <a:ext cx="3629262" cy="22860"/>
          </a:xfrm>
          <a:prstGeom prst="rect">
            <a:avLst/>
          </a:prstGeom>
          <a:solidFill>
            <a:srgbClr val="FFBC8F"/>
          </a:solidFill>
          <a:ln/>
        </p:spPr>
      </p:sp>
      <p:sp>
        <p:nvSpPr>
          <p:cNvPr id="467978466" name="Text 9"/>
          <p:cNvSpPr/>
          <p:nvPr/>
        </p:nvSpPr>
        <p:spPr bwMode="auto">
          <a:xfrm>
            <a:off x="5500448" y="5486400"/>
            <a:ext cx="2221944" cy="277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  <a:defRPr/>
            </a:pPr>
            <a:r>
              <a:rPr lang="en-US" sz="17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Генерация кода</a:t>
            </a:r>
            <a:endParaRPr lang="en-US" sz="1700"/>
          </a:p>
        </p:txBody>
      </p:sp>
      <p:sp>
        <p:nvSpPr>
          <p:cNvPr id="1014553495" name="Text 10"/>
          <p:cNvSpPr/>
          <p:nvPr/>
        </p:nvSpPr>
        <p:spPr bwMode="auto">
          <a:xfrm>
            <a:off x="5500448" y="5870615"/>
            <a:ext cx="3629262" cy="568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Автоматическое формирование строки box-shadow из 12 закрашенных пикселей</a:t>
            </a:r>
            <a:endParaRPr lang="en-US" sz="1350"/>
          </a:p>
        </p:txBody>
      </p:sp>
      <p:sp>
        <p:nvSpPr>
          <p:cNvPr id="872320586" name="Text 11"/>
          <p:cNvSpPr/>
          <p:nvPr/>
        </p:nvSpPr>
        <p:spPr bwMode="auto">
          <a:xfrm>
            <a:off x="9307354" y="5072658"/>
            <a:ext cx="177641" cy="222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IBM Plex Sans Light"/>
                <a:ea typeface="IBM Plex Sans Light"/>
                <a:cs typeface="IBM Plex Sans Light"/>
              </a:rPr>
              <a:t>03</a:t>
            </a:r>
            <a:endParaRPr lang="en-US" sz="1350"/>
          </a:p>
        </p:txBody>
      </p:sp>
      <p:sp>
        <p:nvSpPr>
          <p:cNvPr id="732061204" name="Shape 12"/>
          <p:cNvSpPr/>
          <p:nvPr/>
        </p:nvSpPr>
        <p:spPr bwMode="auto">
          <a:xfrm>
            <a:off x="9307354" y="5351859"/>
            <a:ext cx="3629382" cy="22860"/>
          </a:xfrm>
          <a:prstGeom prst="rect">
            <a:avLst/>
          </a:prstGeom>
          <a:solidFill>
            <a:srgbClr val="FFBC8F"/>
          </a:solidFill>
          <a:ln/>
        </p:spPr>
      </p:sp>
      <p:sp>
        <p:nvSpPr>
          <p:cNvPr id="366980321" name="Text 13"/>
          <p:cNvSpPr/>
          <p:nvPr/>
        </p:nvSpPr>
        <p:spPr bwMode="auto">
          <a:xfrm>
            <a:off x="9307354" y="5486400"/>
            <a:ext cx="2317790" cy="277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  <a:defRPr/>
            </a:pPr>
            <a:r>
              <a:rPr lang="en-US" sz="17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Копирование в буфер</a:t>
            </a:r>
            <a:endParaRPr lang="en-US" sz="1700"/>
          </a:p>
        </p:txBody>
      </p:sp>
      <p:sp>
        <p:nvSpPr>
          <p:cNvPr id="946305610" name="Text 14"/>
          <p:cNvSpPr/>
          <p:nvPr/>
        </p:nvSpPr>
        <p:spPr bwMode="auto">
          <a:xfrm>
            <a:off x="9307354" y="5870615"/>
            <a:ext cx="3629382" cy="568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Готовый CSS-код можно сразу использовать в любом веб-проекте</a:t>
            </a:r>
            <a:endParaRPr lang="en-US" sz="1350"/>
          </a:p>
        </p:txBody>
      </p:sp>
      <p:sp>
        <p:nvSpPr>
          <p:cNvPr id="334038980" name="Text 15"/>
          <p:cNvSpPr/>
          <p:nvPr/>
        </p:nvSpPr>
        <p:spPr bwMode="auto">
          <a:xfrm>
            <a:off x="1960126" y="7256621"/>
            <a:ext cx="10976609" cy="284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Один div-элемент заменяет 256 потенциальных HTML-тегов благодаря математике теней</a:t>
            </a:r>
            <a:endParaRPr lang="en-US" sz="1350"/>
          </a:p>
        </p:txBody>
      </p:sp>
      <p:sp>
        <p:nvSpPr>
          <p:cNvPr id="599151746" name="Shape 16"/>
          <p:cNvSpPr/>
          <p:nvPr/>
        </p:nvSpPr>
        <p:spPr bwMode="auto">
          <a:xfrm>
            <a:off x="1693544" y="7056715"/>
            <a:ext cx="22860" cy="684133"/>
          </a:xfrm>
          <a:prstGeom prst="rect">
            <a:avLst/>
          </a:prstGeom>
          <a:solidFill>
            <a:srgbClr val="FFBC8F"/>
          </a:solidFill>
          <a:ln/>
        </p:spPr>
      </p:sp>
      <p:pic>
        <p:nvPicPr>
          <p:cNvPr id="8412538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314464" y="7540941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312480" name="Shape 0"/>
          <p:cNvSpPr/>
          <p:nvPr/>
        </p:nvSpPr>
        <p:spPr bwMode="auto">
          <a:xfrm>
            <a:off x="793790" y="1445895"/>
            <a:ext cx="1152049" cy="441484"/>
          </a:xfrm>
          <a:prstGeom prst="roundRect">
            <a:avLst>
              <a:gd name="adj" fmla="val 6165"/>
            </a:avLst>
          </a:prstGeom>
          <a:noFill/>
          <a:ln w="7620">
            <a:solidFill>
              <a:srgbClr val="FFBC8F"/>
            </a:solidFill>
            <a:prstDash val="solid"/>
          </a:ln>
        </p:spPr>
      </p:sp>
      <p:sp>
        <p:nvSpPr>
          <p:cNvPr id="1255541461" name="Text 1"/>
          <p:cNvSpPr/>
          <p:nvPr/>
        </p:nvSpPr>
        <p:spPr bwMode="auto">
          <a:xfrm>
            <a:off x="937498" y="1521500"/>
            <a:ext cx="86463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400">
                <a:solidFill>
                  <a:srgbClr val="FFBC8F"/>
                </a:solidFill>
                <a:latin typeface="Roboto"/>
                <a:ea typeface="Roboto"/>
                <a:cs typeface="Roboto"/>
              </a:rPr>
              <a:t>ROADMAP</a:t>
            </a:r>
            <a:endParaRPr lang="en-US" sz="1400"/>
          </a:p>
        </p:txBody>
      </p:sp>
      <p:sp>
        <p:nvSpPr>
          <p:cNvPr id="722931004" name="Text 2"/>
          <p:cNvSpPr/>
          <p:nvPr/>
        </p:nvSpPr>
        <p:spPr bwMode="auto">
          <a:xfrm>
            <a:off x="793790" y="1978104"/>
            <a:ext cx="680263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Планы развития проекта</a:t>
            </a:r>
            <a:endParaRPr lang="en-US" sz="4450"/>
          </a:p>
        </p:txBody>
      </p:sp>
      <p:sp>
        <p:nvSpPr>
          <p:cNvPr id="138181191" name="Shape 3"/>
          <p:cNvSpPr/>
          <p:nvPr/>
        </p:nvSpPr>
        <p:spPr bwMode="auto">
          <a:xfrm>
            <a:off x="1133951" y="3934301"/>
            <a:ext cx="3856077" cy="226814"/>
          </a:xfrm>
          <a:prstGeom prst="roundRect">
            <a:avLst>
              <a:gd name="adj" fmla="val 15001"/>
            </a:avLst>
          </a:prstGeom>
          <a:solidFill>
            <a:srgbClr val="484B51"/>
          </a:solidFill>
          <a:ln/>
        </p:spPr>
      </p:sp>
      <p:sp>
        <p:nvSpPr>
          <p:cNvPr id="102757948" name="Shape 4"/>
          <p:cNvSpPr/>
          <p:nvPr/>
        </p:nvSpPr>
        <p:spPr bwMode="auto">
          <a:xfrm>
            <a:off x="793790" y="3707428"/>
            <a:ext cx="680441" cy="680441"/>
          </a:xfrm>
          <a:prstGeom prst="roundRect">
            <a:avLst>
              <a:gd name="adj" fmla="val 67192"/>
            </a:avLst>
          </a:prstGeom>
          <a:solidFill>
            <a:srgbClr val="484B51"/>
          </a:solidFill>
          <a:ln/>
        </p:spPr>
      </p:sp>
      <p:pic>
        <p:nvPicPr>
          <p:cNvPr id="77162530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963930" y="3877568"/>
            <a:ext cx="340162" cy="340162"/>
          </a:xfrm>
          <a:prstGeom prst="rect">
            <a:avLst/>
          </a:prstGeom>
        </p:spPr>
      </p:pic>
      <p:sp>
        <p:nvSpPr>
          <p:cNvPr id="1633818275" name="Text 5"/>
          <p:cNvSpPr/>
          <p:nvPr/>
        </p:nvSpPr>
        <p:spPr bwMode="auto">
          <a:xfrm>
            <a:off x="1020604" y="461474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LocalStorage API</a:t>
            </a:r>
            <a:endParaRPr lang="en-US" sz="2200"/>
          </a:p>
        </p:txBody>
      </p:sp>
      <p:sp>
        <p:nvSpPr>
          <p:cNvPr id="730369214" name="Text 6"/>
          <p:cNvSpPr/>
          <p:nvPr/>
        </p:nvSpPr>
        <p:spPr bwMode="auto">
          <a:xfrm>
            <a:off x="1020604" y="5105162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Сохранение работ пользователя в браузере для возможности продолжить рисование позже без потери данных</a:t>
            </a:r>
            <a:endParaRPr lang="en-US" sz="1750"/>
          </a:p>
        </p:txBody>
      </p:sp>
      <p:sp>
        <p:nvSpPr>
          <p:cNvPr id="918102026" name="Shape 7"/>
          <p:cNvSpPr/>
          <p:nvPr/>
        </p:nvSpPr>
        <p:spPr bwMode="auto">
          <a:xfrm>
            <a:off x="5557123" y="3594021"/>
            <a:ext cx="3856077" cy="226814"/>
          </a:xfrm>
          <a:prstGeom prst="roundRect">
            <a:avLst>
              <a:gd name="adj" fmla="val 15001"/>
            </a:avLst>
          </a:prstGeom>
          <a:solidFill>
            <a:srgbClr val="484B51"/>
          </a:solidFill>
          <a:ln/>
        </p:spPr>
      </p:sp>
      <p:sp>
        <p:nvSpPr>
          <p:cNvPr id="1134242864" name="Shape 8"/>
          <p:cNvSpPr/>
          <p:nvPr/>
        </p:nvSpPr>
        <p:spPr bwMode="auto">
          <a:xfrm>
            <a:off x="5216962" y="3367147"/>
            <a:ext cx="680441" cy="680441"/>
          </a:xfrm>
          <a:prstGeom prst="roundRect">
            <a:avLst>
              <a:gd name="adj" fmla="val 67192"/>
            </a:avLst>
          </a:prstGeom>
          <a:solidFill>
            <a:srgbClr val="484B51"/>
          </a:solidFill>
          <a:ln/>
        </p:spPr>
      </p:sp>
      <p:pic>
        <p:nvPicPr>
          <p:cNvPr id="697474661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5387102" y="3537287"/>
            <a:ext cx="340162" cy="340162"/>
          </a:xfrm>
          <a:prstGeom prst="rect">
            <a:avLst/>
          </a:prstGeom>
        </p:spPr>
      </p:pic>
      <p:sp>
        <p:nvSpPr>
          <p:cNvPr id="2104012764" name="Text 9"/>
          <p:cNvSpPr/>
          <p:nvPr/>
        </p:nvSpPr>
        <p:spPr bwMode="auto">
          <a:xfrm>
            <a:off x="5443776" y="42744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CSS Animations</a:t>
            </a:r>
            <a:endParaRPr lang="en-US" sz="2200"/>
          </a:p>
        </p:txBody>
      </p:sp>
      <p:sp>
        <p:nvSpPr>
          <p:cNvPr id="615366454" name="Text 10"/>
          <p:cNvSpPr/>
          <p:nvPr/>
        </p:nvSpPr>
        <p:spPr bwMode="auto">
          <a:xfrm>
            <a:off x="5443776" y="4764881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Генерация @keyframes для создания анимированных спрайтов с покадровой сменой box-shadow</a:t>
            </a:r>
            <a:endParaRPr lang="en-US" sz="1750"/>
          </a:p>
        </p:txBody>
      </p:sp>
      <p:sp>
        <p:nvSpPr>
          <p:cNvPr id="1730386070" name="Shape 11"/>
          <p:cNvSpPr/>
          <p:nvPr/>
        </p:nvSpPr>
        <p:spPr bwMode="auto">
          <a:xfrm>
            <a:off x="9980295" y="3253859"/>
            <a:ext cx="3856077" cy="226814"/>
          </a:xfrm>
          <a:prstGeom prst="roundRect">
            <a:avLst>
              <a:gd name="adj" fmla="val 15001"/>
            </a:avLst>
          </a:prstGeom>
          <a:solidFill>
            <a:srgbClr val="484B51"/>
          </a:solidFill>
          <a:ln/>
        </p:spPr>
      </p:sp>
      <p:sp>
        <p:nvSpPr>
          <p:cNvPr id="1692837634" name="Shape 12"/>
          <p:cNvSpPr/>
          <p:nvPr/>
        </p:nvSpPr>
        <p:spPr bwMode="auto">
          <a:xfrm>
            <a:off x="9640133" y="3026985"/>
            <a:ext cx="680441" cy="680441"/>
          </a:xfrm>
          <a:prstGeom prst="roundRect">
            <a:avLst>
              <a:gd name="adj" fmla="val 67192"/>
            </a:avLst>
          </a:prstGeom>
          <a:solidFill>
            <a:srgbClr val="484B51"/>
          </a:solidFill>
          <a:ln/>
        </p:spPr>
      </p:sp>
      <p:pic>
        <p:nvPicPr>
          <p:cNvPr id="552554926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9810274" y="3197126"/>
            <a:ext cx="340162" cy="340162"/>
          </a:xfrm>
          <a:prstGeom prst="rect">
            <a:avLst/>
          </a:prstGeom>
        </p:spPr>
      </p:pic>
      <p:sp>
        <p:nvSpPr>
          <p:cNvPr id="694439995" name="Text 13"/>
          <p:cNvSpPr/>
          <p:nvPr/>
        </p:nvSpPr>
        <p:spPr bwMode="auto">
          <a:xfrm>
            <a:off x="9866948" y="3934301"/>
            <a:ext cx="365498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Переменный размер сетки</a:t>
            </a:r>
            <a:endParaRPr lang="en-US" sz="2200"/>
          </a:p>
        </p:txBody>
      </p:sp>
      <p:sp>
        <p:nvSpPr>
          <p:cNvPr id="1289289465" name="Text 14"/>
          <p:cNvSpPr/>
          <p:nvPr/>
        </p:nvSpPr>
        <p:spPr bwMode="auto">
          <a:xfrm>
            <a:off x="9866948" y="4424720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Поддержка холстов 8×8, 32×32, 64×64 для более детальных или оптимизированных изображений</a:t>
            </a:r>
            <a:endParaRPr lang="en-US" sz="1750"/>
          </a:p>
        </p:txBody>
      </p:sp>
      <p:pic>
        <p:nvPicPr>
          <p:cNvPr id="729006083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12325803" y="7551964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163748" name="Text 0"/>
          <p:cNvSpPr/>
          <p:nvPr/>
        </p:nvSpPr>
        <p:spPr bwMode="auto">
          <a:xfrm>
            <a:off x="793790" y="1692831"/>
            <a:ext cx="846105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Pixels — CSS без компромиссов</a:t>
            </a:r>
            <a:endParaRPr lang="en-US" sz="4450"/>
          </a:p>
        </p:txBody>
      </p:sp>
      <p:sp>
        <p:nvSpPr>
          <p:cNvPr id="1650311294" name="Text 1"/>
          <p:cNvSpPr/>
          <p:nvPr/>
        </p:nvSpPr>
        <p:spPr bwMode="auto">
          <a:xfrm>
            <a:off x="793790" y="2968585"/>
            <a:ext cx="419838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26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Ключевые преимущества</a:t>
            </a:r>
            <a:endParaRPr lang="en-US" sz="2650"/>
          </a:p>
        </p:txBody>
      </p:sp>
      <p:sp>
        <p:nvSpPr>
          <p:cNvPr id="1654479021" name="Text 2"/>
          <p:cNvSpPr/>
          <p:nvPr/>
        </p:nvSpPr>
        <p:spPr bwMode="auto">
          <a:xfrm>
            <a:off x="793790" y="3620691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Векторная четкость на любых экранах</a:t>
            </a:r>
            <a:endParaRPr lang="en-US" sz="1750"/>
          </a:p>
        </p:txBody>
      </p:sp>
      <p:sp>
        <p:nvSpPr>
          <p:cNvPr id="717026560" name="Text 3"/>
          <p:cNvSpPr/>
          <p:nvPr/>
        </p:nvSpPr>
        <p:spPr bwMode="auto">
          <a:xfrm>
            <a:off x="793790" y="4062889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Нулевая задержка загрузки</a:t>
            </a:r>
            <a:endParaRPr lang="en-US" sz="1750"/>
          </a:p>
        </p:txBody>
      </p:sp>
      <p:sp>
        <p:nvSpPr>
          <p:cNvPr id="1848289755" name="Text 4"/>
          <p:cNvSpPr/>
          <p:nvPr/>
        </p:nvSpPr>
        <p:spPr bwMode="auto">
          <a:xfrm>
            <a:off x="793790" y="4505087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Чистый JavaScript без библиотек</a:t>
            </a:r>
            <a:endParaRPr lang="en-US" sz="1750"/>
          </a:p>
        </p:txBody>
      </p:sp>
      <p:sp>
        <p:nvSpPr>
          <p:cNvPr id="1298308717" name="Text 5"/>
          <p:cNvSpPr/>
          <p:nvPr/>
        </p:nvSpPr>
        <p:spPr bwMode="auto">
          <a:xfrm>
            <a:off x="793790" y="4947285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Полный контроль через код</a:t>
            </a:r>
            <a:endParaRPr lang="en-US" sz="1750"/>
          </a:p>
        </p:txBody>
      </p:sp>
      <p:sp>
        <p:nvSpPr>
          <p:cNvPr id="693835616" name="Shape 8"/>
          <p:cNvSpPr/>
          <p:nvPr/>
        </p:nvSpPr>
        <p:spPr bwMode="auto">
          <a:xfrm>
            <a:off x="8279249" y="2996922"/>
            <a:ext cx="5564862" cy="2415421"/>
          </a:xfrm>
          <a:prstGeom prst="roundRect">
            <a:avLst>
              <a:gd name="adj" fmla="val 1409"/>
            </a:avLst>
          </a:prstGeom>
          <a:solidFill>
            <a:srgbClr val="4D1F00"/>
          </a:solidFill>
          <a:ln/>
        </p:spPr>
      </p:sp>
      <p:pic>
        <p:nvPicPr>
          <p:cNvPr id="165587526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506063" y="3341013"/>
            <a:ext cx="283488" cy="226814"/>
          </a:xfrm>
          <a:prstGeom prst="rect">
            <a:avLst/>
          </a:prstGeom>
        </p:spPr>
      </p:pic>
      <p:sp>
        <p:nvSpPr>
          <p:cNvPr id="1555851315" name="Text 9"/>
          <p:cNvSpPr/>
          <p:nvPr/>
        </p:nvSpPr>
        <p:spPr bwMode="auto">
          <a:xfrm>
            <a:off x="9016365" y="3280410"/>
            <a:ext cx="4600932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Вывод:</a:t>
            </a:r>
            <a:r>
              <a:rPr lang="en-US" sz="175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CSS box-shadow превращает браузер в графический редактор, доказывая, что веб-стандарты способны решать задачи, выходящие за рамки их изначального предназначения</a:t>
            </a:r>
            <a:endParaRPr lang="en-US" sz="1750"/>
          </a:p>
        </p:txBody>
      </p:sp>
      <p:pic>
        <p:nvPicPr>
          <p:cNvPr id="205120780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337142" y="7540624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305527" name="Text 0"/>
          <p:cNvSpPr/>
          <p:nvPr/>
        </p:nvSpPr>
        <p:spPr bwMode="auto">
          <a:xfrm>
            <a:off x="2329812" y="3387660"/>
            <a:ext cx="10180563" cy="727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49"/>
              </a:lnSpc>
              <a:buNone/>
              <a:defRPr/>
            </a:pPr>
            <a:r>
              <a:rPr lang="ru-RU" sz="720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Спасибо за внимание</a:t>
            </a:r>
            <a:endParaRPr sz="7200"/>
          </a:p>
        </p:txBody>
      </p:sp>
      <p:sp>
        <p:nvSpPr>
          <p:cNvPr id="2052193394" name="Text 7"/>
          <p:cNvSpPr/>
          <p:nvPr/>
        </p:nvSpPr>
        <p:spPr bwMode="auto">
          <a:xfrm>
            <a:off x="5397538" y="4114800"/>
            <a:ext cx="3548103" cy="363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49"/>
              </a:lnSpc>
              <a:buNone/>
              <a:defRPr/>
            </a:pPr>
            <a:r>
              <a:rPr lang="en-US" sz="1750" b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GitHub:</a:t>
            </a: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u="sng">
                <a:solidFill>
                  <a:schemeClr val="hlink"/>
                </a:solidFill>
                <a:latin typeface="Roboto"/>
                <a:ea typeface="Roboto"/>
                <a:cs typeface="Roboto"/>
                <a:hlinkClick r:id="rId3" tooltip=""/>
              </a:rPr>
              <a:t>github.com/Korsany/Pixels</a:t>
            </a:r>
            <a:endParaRPr lang="en-US" sz="1750"/>
          </a:p>
        </p:txBody>
      </p:sp>
      <p:pic>
        <p:nvPicPr>
          <p:cNvPr id="106510374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337141" y="7540623"/>
            <a:ext cx="2228850" cy="657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ONLYOFFICE/9.1.0.173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3</cp:revision>
  <dcterms:created xsi:type="dcterms:W3CDTF">2026-01-18T08:41:05Z</dcterms:created>
  <dcterms:modified xsi:type="dcterms:W3CDTF">2026-01-18T08:52:36Z</dcterms:modified>
</cp:coreProperties>
</file>