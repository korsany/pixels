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BM Plex Sans Light" panose="020B0403050203000203" pitchFamily="34" charset="0"/>
      <p:regular r:id="rId18"/>
      <p:italic r:id="rId19"/>
    </p:embeddedFont>
    <p:embeddedFont>
      <p:font typeface="IBM Plex Sans Medium" panose="020B0603050203000203" pitchFamily="34" charset="0"/>
      <p:regular r:id="rId20"/>
      <p: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608">
          <p15:clr>
            <a:srgbClr val="A4A3A4"/>
          </p15:clr>
        </p15:guide>
        <p15:guide id="2" orient="horz" pos="25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1E4"/>
    <a:srgbClr val="847F84"/>
    <a:srgbClr val="D2C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E85B4-9BD9-48CF-82DC-138DE78B7F14}" v="12" dt="2026-01-31T17:47:40.005"/>
    <p1510:client id="{949E5214-F716-458F-B181-FEA170A16C11}" v="210" dt="2026-01-31T17:43:35.510"/>
    <p1510:client id="{B5F40E67-4598-4285-B9E0-0F2A56892A56}" v="25" dt="2026-01-31T17:45:23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4608"/>
        <p:guide orient="horz" pos="259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7044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756031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1/31/2026</a:t>
            </a:fld>
            <a:endParaRPr lang="en-US"/>
          </a:p>
        </p:txBody>
      </p:sp>
      <p:sp>
        <p:nvSpPr>
          <p:cNvPr id="33594444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0486004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4308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427422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2279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88333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44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8091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09448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618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52143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101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234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2CA7-5EF6-B722-B52C-CF507248DA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521434" name="Slide Image Placeholder 1">
            <a:extLst>
              <a:ext uri="{FF2B5EF4-FFF2-40B4-BE49-F238E27FC236}">
                <a16:creationId xmlns:a16="http://schemas.microsoft.com/office/drawing/2014/main" id="{B5191E80-6DD9-41BA-AB28-706A44F1E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101599" name="Notes Placeholder 2">
            <a:extLst>
              <a:ext uri="{FF2B5EF4-FFF2-40B4-BE49-F238E27FC236}">
                <a16:creationId xmlns:a16="http://schemas.microsoft.com/office/drawing/2014/main" id="{9564F542-3F7B-600C-F051-BD14576886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234395" name="Slide Number Placeholder 3">
            <a:extLst>
              <a:ext uri="{FF2B5EF4-FFF2-40B4-BE49-F238E27FC236}">
                <a16:creationId xmlns:a16="http://schemas.microsoft.com/office/drawing/2014/main" id="{4C220B32-0D4C-BC8E-F38F-466BAB4C8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1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8694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69660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3002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0738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90785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8138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77153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9482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9991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0223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2575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0790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15886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3644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7044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992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11302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7399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02517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62107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0853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51F95B-00B0-9378-C025-ECCDB0EB8C91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314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34466819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1229097491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505917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2001108197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946022007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430545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575189450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80887857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55439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2100150172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1959191267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711319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1164448383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876445039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746912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162944801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1947315523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435670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75780813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287620402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31800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4807610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717018877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687204" name="Shape 0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905390951" name="Shape 1"/>
          <p:cNvSpPr/>
          <p:nvPr/>
        </p:nvSpPr>
        <p:spPr bwMode="auto"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1555348736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39214" y="7749539"/>
            <a:ext cx="1722604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2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rsany/Pixel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904068" name="Text 0"/>
          <p:cNvSpPr/>
          <p:nvPr/>
        </p:nvSpPr>
        <p:spPr bwMode="auto">
          <a:xfrm>
            <a:off x="793790" y="3186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Pixels</a:t>
            </a:r>
            <a:endParaRPr lang="en-US" sz="4450"/>
          </a:p>
        </p:txBody>
      </p:sp>
      <p:sp>
        <p:nvSpPr>
          <p:cNvPr id="1817732809" name="Text 1"/>
          <p:cNvSpPr/>
          <p:nvPr/>
        </p:nvSpPr>
        <p:spPr bwMode="auto">
          <a:xfrm>
            <a:off x="793790" y="3985855"/>
            <a:ext cx="596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Генератор CSS-арта для веб-разработчиков</a:t>
            </a:r>
            <a:endParaRPr lang="en-US" sz="2200"/>
          </a:p>
        </p:txBody>
      </p:sp>
      <p:sp>
        <p:nvSpPr>
          <p:cNvPr id="354296680" name="Text 2"/>
          <p:cNvSpPr/>
          <p:nvPr/>
        </p:nvSpPr>
        <p:spPr bwMode="auto">
          <a:xfrm>
            <a:off x="793790" y="46803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Легкий инструмент для создания пиксельной графики на чистом JavaScript с векторной точностью</a:t>
            </a:r>
            <a:endParaRPr lang="en-US" sz="1750"/>
          </a:p>
        </p:txBody>
      </p:sp>
      <p:pic>
        <p:nvPicPr>
          <p:cNvPr id="394231213" name="Рисунок 3942312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14464" y="7551964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183929" name="Shape 0"/>
          <p:cNvSpPr/>
          <p:nvPr/>
        </p:nvSpPr>
        <p:spPr bwMode="auto">
          <a:xfrm>
            <a:off x="793790" y="2133957"/>
            <a:ext cx="1264682" cy="426244"/>
          </a:xfrm>
          <a:prstGeom prst="roundRect">
            <a:avLst>
              <a:gd name="adj" fmla="val 6386"/>
            </a:avLst>
          </a:prstGeom>
          <a:solidFill>
            <a:srgbClr val="4D1F00"/>
          </a:solidFill>
          <a:ln/>
        </p:spPr>
      </p:sp>
      <p:sp>
        <p:nvSpPr>
          <p:cNvPr id="1905681914" name="Text 1"/>
          <p:cNvSpPr/>
          <p:nvPr/>
        </p:nvSpPr>
        <p:spPr bwMode="auto">
          <a:xfrm>
            <a:off x="929878" y="2201942"/>
            <a:ext cx="9925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ПРОБЛЕМА</a:t>
            </a:r>
            <a:endParaRPr lang="en-US" sz="1400"/>
          </a:p>
        </p:txBody>
      </p:sp>
      <p:sp>
        <p:nvSpPr>
          <p:cNvPr id="2138261279" name="Text 2"/>
          <p:cNvSpPr/>
          <p:nvPr/>
        </p:nvSpPr>
        <p:spPr bwMode="auto">
          <a:xfrm>
            <a:off x="793790" y="2650927"/>
            <a:ext cx="12158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Традиционные изображения замедляют веб</a:t>
            </a:r>
            <a:endParaRPr lang="en-US" sz="4450"/>
          </a:p>
        </p:txBody>
      </p:sp>
      <p:sp>
        <p:nvSpPr>
          <p:cNvPr id="1556004746" name="Shape 3"/>
          <p:cNvSpPr/>
          <p:nvPr/>
        </p:nvSpPr>
        <p:spPr bwMode="auto">
          <a:xfrm>
            <a:off x="793790" y="3699867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84B51"/>
          </a:solidFill>
          <a:ln/>
        </p:spPr>
      </p:sp>
      <p:sp>
        <p:nvSpPr>
          <p:cNvPr id="1001110792" name="Text 4"/>
          <p:cNvSpPr/>
          <p:nvPr/>
        </p:nvSpPr>
        <p:spPr bwMode="auto">
          <a:xfrm>
            <a:off x="1020604" y="3926681"/>
            <a:ext cx="2843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Большой вес файлов</a:t>
            </a:r>
            <a:endParaRPr lang="en-US" sz="2200"/>
          </a:p>
        </p:txBody>
      </p:sp>
      <p:sp>
        <p:nvSpPr>
          <p:cNvPr id="389815193" name="Text 5"/>
          <p:cNvSpPr/>
          <p:nvPr/>
        </p:nvSpPr>
        <p:spPr bwMode="auto">
          <a:xfrm>
            <a:off x="1020604" y="441710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Растровые форматы PNG и JPG занимают килобайты даже для простых иконок, увеличивая время загрузки страницы</a:t>
            </a:r>
            <a:endParaRPr lang="en-US" sz="1750"/>
          </a:p>
        </p:txBody>
      </p:sp>
      <p:sp>
        <p:nvSpPr>
          <p:cNvPr id="1454626358" name="Shape 6"/>
          <p:cNvSpPr/>
          <p:nvPr/>
        </p:nvSpPr>
        <p:spPr bwMode="auto">
          <a:xfrm>
            <a:off x="5216962" y="3699867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84B51"/>
          </a:solidFill>
          <a:ln/>
        </p:spPr>
      </p:sp>
      <p:sp>
        <p:nvSpPr>
          <p:cNvPr id="47627338" name="Text 7"/>
          <p:cNvSpPr/>
          <p:nvPr/>
        </p:nvSpPr>
        <p:spPr bwMode="auto">
          <a:xfrm>
            <a:off x="5443776" y="3926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Потеря качества</a:t>
            </a:r>
            <a:endParaRPr lang="en-US" sz="2200"/>
          </a:p>
        </p:txBody>
      </p:sp>
      <p:sp>
        <p:nvSpPr>
          <p:cNvPr id="15064894" name="Text 8"/>
          <p:cNvSpPr/>
          <p:nvPr/>
        </p:nvSpPr>
        <p:spPr bwMode="auto">
          <a:xfrm>
            <a:off x="5443776" y="441710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При масштабировании пиксельные изображения становятся размытыми, теряя четкость на Retina-дисплеях</a:t>
            </a:r>
            <a:endParaRPr lang="en-US" sz="1750"/>
          </a:p>
        </p:txBody>
      </p:sp>
      <p:sp>
        <p:nvSpPr>
          <p:cNvPr id="640772576" name="Shape 9"/>
          <p:cNvSpPr/>
          <p:nvPr/>
        </p:nvSpPr>
        <p:spPr bwMode="auto">
          <a:xfrm>
            <a:off x="9640133" y="3699867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84B51"/>
          </a:solidFill>
          <a:ln/>
        </p:spPr>
      </p:sp>
      <p:sp>
        <p:nvSpPr>
          <p:cNvPr id="2123927447" name="Text 10"/>
          <p:cNvSpPr/>
          <p:nvPr/>
        </p:nvSpPr>
        <p:spPr bwMode="auto">
          <a:xfrm>
            <a:off x="9866948" y="3926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HTTP-запросы</a:t>
            </a:r>
            <a:endParaRPr lang="en-US" sz="2200"/>
          </a:p>
        </p:txBody>
      </p:sp>
      <p:sp>
        <p:nvSpPr>
          <p:cNvPr id="789806464" name="Text 11"/>
          <p:cNvSpPr/>
          <p:nvPr/>
        </p:nvSpPr>
        <p:spPr bwMode="auto">
          <a:xfrm>
            <a:off x="9866948" y="441710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Каждое изображение требует отдельного запроса к серверу, замедляя рендеринг интерфейса</a:t>
            </a:r>
            <a:endParaRPr lang="en-US" sz="1750"/>
          </a:p>
        </p:txBody>
      </p:sp>
      <p:pic>
        <p:nvPicPr>
          <p:cNvPr id="207341358" name="Рисунок 20734135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03124" y="7529285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934005" name="Shape 0"/>
          <p:cNvSpPr/>
          <p:nvPr/>
        </p:nvSpPr>
        <p:spPr bwMode="auto">
          <a:xfrm>
            <a:off x="793790" y="1447443"/>
            <a:ext cx="114038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</p:sp>
      <p:sp>
        <p:nvSpPr>
          <p:cNvPr id="2010447823" name="Text 1"/>
          <p:cNvSpPr/>
          <p:nvPr/>
        </p:nvSpPr>
        <p:spPr bwMode="auto">
          <a:xfrm>
            <a:off x="937498" y="1523047"/>
            <a:ext cx="8529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FFBC8F"/>
                </a:solidFill>
                <a:latin typeface="Roboto"/>
                <a:ea typeface="Roboto"/>
                <a:cs typeface="Roboto"/>
              </a:rPr>
              <a:t>РЕШЕНИЕ</a:t>
            </a:r>
            <a:endParaRPr lang="en-US" sz="1400"/>
          </a:p>
        </p:txBody>
      </p:sp>
      <p:sp>
        <p:nvSpPr>
          <p:cNvPr id="1305221954" name="Text 2"/>
          <p:cNvSpPr/>
          <p:nvPr/>
        </p:nvSpPr>
        <p:spPr bwMode="auto">
          <a:xfrm>
            <a:off x="793790" y="1979652"/>
            <a:ext cx="113928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CSS box-shadow как графический движок</a:t>
            </a:r>
            <a:endParaRPr lang="en-US" sz="4450"/>
          </a:p>
        </p:txBody>
      </p:sp>
      <p:sp>
        <p:nvSpPr>
          <p:cNvPr id="1402851431" name="Text 3"/>
          <p:cNvSpPr/>
          <p:nvPr/>
        </p:nvSpPr>
        <p:spPr bwMode="auto">
          <a:xfrm>
            <a:off x="793790" y="3255407"/>
            <a:ext cx="438507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Преимущества технологии</a:t>
            </a:r>
            <a:endParaRPr lang="en-US" sz="2650"/>
          </a:p>
        </p:txBody>
      </p:sp>
      <p:sp>
        <p:nvSpPr>
          <p:cNvPr id="2008858583" name="Text 4"/>
          <p:cNvSpPr/>
          <p:nvPr/>
        </p:nvSpPr>
        <p:spPr bwMode="auto">
          <a:xfrm>
            <a:off x="793790" y="390751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Один HTML-элемент вместо десятков пикселей</a:t>
            </a:r>
            <a:endParaRPr lang="en-US" sz="1750"/>
          </a:p>
        </p:txBody>
      </p:sp>
      <p:sp>
        <p:nvSpPr>
          <p:cNvPr id="469331181" name="Text 5"/>
          <p:cNvSpPr/>
          <p:nvPr/>
        </p:nvSpPr>
        <p:spPr bwMode="auto">
          <a:xfrm>
            <a:off x="793790" y="434971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Векторная четкость при любом масштабе</a:t>
            </a:r>
            <a:endParaRPr lang="en-US" sz="1750"/>
          </a:p>
        </p:txBody>
      </p:sp>
      <p:sp>
        <p:nvSpPr>
          <p:cNvPr id="1280900221" name="Text 6"/>
          <p:cNvSpPr/>
          <p:nvPr/>
        </p:nvSpPr>
        <p:spPr bwMode="auto">
          <a:xfrm>
            <a:off x="793790" y="47919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Нулевое время загрузки — код встроен в CSS</a:t>
            </a:r>
            <a:endParaRPr lang="en-US" sz="1750"/>
          </a:p>
        </p:txBody>
      </p:sp>
      <p:sp>
        <p:nvSpPr>
          <p:cNvPr id="2089217949" name="Text 7"/>
          <p:cNvSpPr/>
          <p:nvPr/>
        </p:nvSpPr>
        <p:spPr bwMode="auto">
          <a:xfrm>
            <a:off x="793790" y="523410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Полный контроль через JavaScript</a:t>
            </a:r>
            <a:endParaRPr lang="en-US" sz="1750"/>
          </a:p>
        </p:txBody>
      </p:sp>
      <p:sp>
        <p:nvSpPr>
          <p:cNvPr id="359479317" name="Shape 8"/>
          <p:cNvSpPr/>
          <p:nvPr/>
        </p:nvSpPr>
        <p:spPr bwMode="auto">
          <a:xfrm>
            <a:off x="8959096" y="3283744"/>
            <a:ext cx="4885015" cy="3243263"/>
          </a:xfrm>
          <a:prstGeom prst="roundRect">
            <a:avLst>
              <a:gd name="adj" fmla="val 1049"/>
            </a:avLst>
          </a:prstGeom>
          <a:solidFill>
            <a:srgbClr val="36393F"/>
          </a:solidFill>
          <a:ln/>
        </p:spPr>
      </p:sp>
      <p:sp>
        <p:nvSpPr>
          <p:cNvPr id="1781049219" name="Shape 9"/>
          <p:cNvSpPr/>
          <p:nvPr/>
        </p:nvSpPr>
        <p:spPr bwMode="auto">
          <a:xfrm>
            <a:off x="8947785" y="3283744"/>
            <a:ext cx="4907637" cy="3243263"/>
          </a:xfrm>
          <a:prstGeom prst="roundRect">
            <a:avLst>
              <a:gd name="adj" fmla="val 1049"/>
            </a:avLst>
          </a:prstGeom>
          <a:solidFill>
            <a:srgbClr val="36393F"/>
          </a:solidFill>
          <a:ln/>
        </p:spPr>
      </p:sp>
      <p:sp>
        <p:nvSpPr>
          <p:cNvPr id="403448618" name="Text 10"/>
          <p:cNvSpPr/>
          <p:nvPr/>
        </p:nvSpPr>
        <p:spPr bwMode="auto">
          <a:xfrm>
            <a:off x="9174599" y="3453765"/>
            <a:ext cx="44540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div {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width: 1px;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height: 1px;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box-shadow: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0px 0px 0 10px #000,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10px 0px 0 10px #fff,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20px 0px 0 10px #000;</a:t>
            </a:r>
            <a:endParaRPr lang="en-US" sz="1750"/>
          </a:p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}</a:t>
            </a:r>
            <a:endParaRPr lang="en-US" sz="1750"/>
          </a:p>
        </p:txBody>
      </p:sp>
      <p:pic>
        <p:nvPicPr>
          <p:cNvPr id="1183227875" name="Рисунок 118322787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37142" y="7540624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ACF7C50-9D84-B641-A53D-D9D2594EA9F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934005" name="Shape 0">
            <a:extLst>
              <a:ext uri="{FF2B5EF4-FFF2-40B4-BE49-F238E27FC236}">
                <a16:creationId xmlns:a16="http://schemas.microsoft.com/office/drawing/2014/main" id="{6A4F5BD5-9604-E9CB-6BD2-A8E8942AEB7D}"/>
              </a:ext>
            </a:extLst>
          </p:cNvPr>
          <p:cNvSpPr/>
          <p:nvPr/>
        </p:nvSpPr>
        <p:spPr bwMode="auto">
          <a:xfrm>
            <a:off x="793790" y="1411818"/>
            <a:ext cx="1306635" cy="417733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</p:sp>
      <p:sp>
        <p:nvSpPr>
          <p:cNvPr id="2010447823" name="Text 1">
            <a:extLst>
              <a:ext uri="{FF2B5EF4-FFF2-40B4-BE49-F238E27FC236}">
                <a16:creationId xmlns:a16="http://schemas.microsoft.com/office/drawing/2014/main" id="{2D6D5F5A-999C-CC12-CF18-44913E921EDE}"/>
              </a:ext>
            </a:extLst>
          </p:cNvPr>
          <p:cNvSpPr/>
          <p:nvPr/>
        </p:nvSpPr>
        <p:spPr bwMode="auto">
          <a:xfrm>
            <a:off x="937498" y="1523047"/>
            <a:ext cx="8529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 dirty="0">
                <a:solidFill>
                  <a:srgbClr val="FFBC8F"/>
                </a:solidFill>
                <a:latin typeface="Roboto"/>
                <a:ea typeface="Roboto"/>
                <a:cs typeface="Roboto"/>
              </a:rPr>
              <a:t>АУДИТОРИЯ</a:t>
            </a:r>
          </a:p>
        </p:txBody>
      </p:sp>
      <p:sp>
        <p:nvSpPr>
          <p:cNvPr id="1305221954" name="Text 2">
            <a:extLst>
              <a:ext uri="{FF2B5EF4-FFF2-40B4-BE49-F238E27FC236}">
                <a16:creationId xmlns:a16="http://schemas.microsoft.com/office/drawing/2014/main" id="{B26211C5-B27B-B378-2AC8-AB148EC478B8}"/>
              </a:ext>
            </a:extLst>
          </p:cNvPr>
          <p:cNvSpPr/>
          <p:nvPr/>
        </p:nvSpPr>
        <p:spPr bwMode="auto">
          <a:xfrm>
            <a:off x="793790" y="1979652"/>
            <a:ext cx="113928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  <a:defRPr/>
            </a:pPr>
            <a:r>
              <a:rPr lang="en-US" sz="4450" dirty="0" err="1">
                <a:solidFill>
                  <a:srgbClr val="F3F3F2"/>
                </a:solidFill>
                <a:latin typeface="IBM Plex Sans Medium"/>
              </a:rPr>
              <a:t>Кому</a:t>
            </a:r>
            <a:r>
              <a:rPr lang="en-US" sz="4450" dirty="0">
                <a:solidFill>
                  <a:srgbClr val="F3F3F2"/>
                </a:solidFill>
                <a:latin typeface="IBM Plex Sans Medium"/>
              </a:rPr>
              <a:t> </a:t>
            </a:r>
            <a:r>
              <a:rPr lang="en-US" sz="4450" dirty="0" err="1">
                <a:solidFill>
                  <a:srgbClr val="F3F3F2"/>
                </a:solidFill>
                <a:latin typeface="IBM Plex Sans Medium"/>
              </a:rPr>
              <a:t>полезен</a:t>
            </a:r>
            <a:r>
              <a:rPr lang="en-US" sz="4450" dirty="0">
                <a:solidFill>
                  <a:srgbClr val="F3F3F2"/>
                </a:solidFill>
                <a:latin typeface="IBM Plex Sans Medium"/>
              </a:rPr>
              <a:t> Pixels?</a:t>
            </a:r>
            <a:endParaRPr lang="ru-RU" dirty="0"/>
          </a:p>
        </p:txBody>
      </p:sp>
      <p:sp>
        <p:nvSpPr>
          <p:cNvPr id="1402851431" name="Text 3">
            <a:extLst>
              <a:ext uri="{FF2B5EF4-FFF2-40B4-BE49-F238E27FC236}">
                <a16:creationId xmlns:a16="http://schemas.microsoft.com/office/drawing/2014/main" id="{66028260-E939-096A-5108-C495268A2093}"/>
              </a:ext>
            </a:extLst>
          </p:cNvPr>
          <p:cNvSpPr/>
          <p:nvPr/>
        </p:nvSpPr>
        <p:spPr bwMode="auto">
          <a:xfrm>
            <a:off x="793790" y="3029776"/>
            <a:ext cx="438507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  <a:defRPr/>
            </a:pPr>
            <a:r>
              <a:rPr lang="en-US" sz="2650" dirty="0" err="1">
                <a:solidFill>
                  <a:srgbClr val="F3F3F2"/>
                </a:solidFill>
                <a:latin typeface="IBM Plex Sans Medium"/>
              </a:rPr>
              <a:t>Основные</a:t>
            </a:r>
            <a:r>
              <a:rPr lang="en-US" sz="2650" dirty="0">
                <a:solidFill>
                  <a:srgbClr val="F3F3F2"/>
                </a:solidFill>
                <a:latin typeface="IBM Plex Sans Medium"/>
              </a:rPr>
              <a:t> </a:t>
            </a:r>
            <a:r>
              <a:rPr lang="en-US" sz="2650" dirty="0" err="1">
                <a:solidFill>
                  <a:srgbClr val="F3F3F2"/>
                </a:solidFill>
                <a:latin typeface="IBM Plex Sans Medium"/>
              </a:rPr>
              <a:t>пользователи</a:t>
            </a:r>
          </a:p>
        </p:txBody>
      </p:sp>
      <p:sp>
        <p:nvSpPr>
          <p:cNvPr id="2008858583" name="Text 4">
            <a:extLst>
              <a:ext uri="{FF2B5EF4-FFF2-40B4-BE49-F238E27FC236}">
                <a16:creationId xmlns:a16="http://schemas.microsoft.com/office/drawing/2014/main" id="{9A9AE32F-2999-643B-7A80-FAA14E36BCB4}"/>
              </a:ext>
            </a:extLst>
          </p:cNvPr>
          <p:cNvSpPr/>
          <p:nvPr/>
        </p:nvSpPr>
        <p:spPr bwMode="auto">
          <a:xfrm>
            <a:off x="788773" y="3524492"/>
            <a:ext cx="8055044" cy="117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buSzPct val="100000"/>
              <a:buFont typeface="Arial"/>
              <a:buChar char="•"/>
              <a:defRPr/>
            </a:pPr>
            <a:r>
              <a:rPr lang="en-US" sz="1750" b="1" dirty="0">
                <a:solidFill>
                  <a:srgbClr val="E7E1E4"/>
                </a:solidFill>
                <a:latin typeface="Roboto"/>
              </a:rPr>
              <a:t>Frontend-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разработчики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: 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создание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иконок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без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лишних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HTTP-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запросов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.</a:t>
            </a:r>
            <a:endParaRPr lang="ru-RU">
              <a:solidFill>
                <a:srgbClr val="E7E1E4"/>
              </a:solidFill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750" b="1" dirty="0">
                <a:solidFill>
                  <a:srgbClr val="E7E1E4"/>
                </a:solidFill>
                <a:latin typeface="Roboto"/>
              </a:rPr>
              <a:t>Web-</a:t>
            </a:r>
            <a:r>
              <a:rPr lang="en-US" sz="1750" b="1" dirty="0" err="1">
                <a:solidFill>
                  <a:srgbClr val="E7E1E4"/>
                </a:solidFill>
                <a:latin typeface="Roboto"/>
              </a:rPr>
              <a:t>дизайнеры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: </a:t>
            </a:r>
            <a:r>
              <a:rPr lang="en-US" sz="1750" b="1" dirty="0" err="1">
                <a:solidFill>
                  <a:srgbClr val="E7E1E4"/>
                </a:solidFill>
                <a:latin typeface="Roboto"/>
              </a:rPr>
              <a:t>проектирование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dirty="0" err="1">
                <a:solidFill>
                  <a:srgbClr val="E7E1E4"/>
                </a:solidFill>
                <a:latin typeface="Roboto"/>
              </a:rPr>
              <a:t>четкой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и </a:t>
            </a:r>
            <a:r>
              <a:rPr lang="en-US" sz="1750" b="1" dirty="0" err="1">
                <a:solidFill>
                  <a:srgbClr val="E7E1E4"/>
                </a:solidFill>
                <a:latin typeface="Roboto"/>
              </a:rPr>
              <a:t>масштабируемой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dirty="0" err="1">
                <a:solidFill>
                  <a:srgbClr val="E7E1E4"/>
                </a:solidFill>
                <a:latin typeface="Roboto"/>
              </a:rPr>
              <a:t>графики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.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750" b="1" err="1">
                <a:solidFill>
                  <a:srgbClr val="E7E1E4"/>
                </a:solidFill>
                <a:latin typeface="Roboto"/>
              </a:rPr>
              <a:t>Студенты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: 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наглядное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изучение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работы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координат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и CSS-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свойств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.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750" b="1" err="1">
                <a:solidFill>
                  <a:srgbClr val="E7E1E4"/>
                </a:solidFill>
                <a:latin typeface="Roboto"/>
              </a:rPr>
              <a:t>Инди-разработчики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: 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быстрая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генерация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легких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ассетов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для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b="1" err="1">
                <a:solidFill>
                  <a:srgbClr val="E7E1E4"/>
                </a:solidFill>
                <a:latin typeface="Roboto"/>
              </a:rPr>
              <a:t>веб-игр</a:t>
            </a:r>
            <a:r>
              <a:rPr lang="en-US" sz="1750" b="1" dirty="0">
                <a:solidFill>
                  <a:srgbClr val="E7E1E4"/>
                </a:solidFill>
                <a:latin typeface="Roboto"/>
              </a:rPr>
              <a:t>.</a:t>
            </a:r>
          </a:p>
        </p:txBody>
      </p:sp>
      <p:pic>
        <p:nvPicPr>
          <p:cNvPr id="1183227875" name="Рисунок 1183227874">
            <a:extLst>
              <a:ext uri="{FF2B5EF4-FFF2-40B4-BE49-F238E27FC236}">
                <a16:creationId xmlns:a16="http://schemas.microsoft.com/office/drawing/2014/main" id="{1C9D4CF7-ED55-E4C0-3BC5-BAEF11B59D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37142" y="7540624"/>
            <a:ext cx="2228850" cy="657225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BAA19259-F3D1-80E2-3825-3DFBE91579EA}"/>
              </a:ext>
            </a:extLst>
          </p:cNvPr>
          <p:cNvSpPr/>
          <p:nvPr/>
        </p:nvSpPr>
        <p:spPr bwMode="auto">
          <a:xfrm>
            <a:off x="793789" y="4858575"/>
            <a:ext cx="438507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  <a:defRPr/>
            </a:pPr>
            <a:r>
              <a:rPr lang="en-US" sz="2650" dirty="0" err="1">
                <a:solidFill>
                  <a:srgbClr val="F3F3F2"/>
                </a:solidFill>
                <a:latin typeface="IBM Plex Sans Medium"/>
              </a:rPr>
              <a:t>Основные</a:t>
            </a:r>
            <a:r>
              <a:rPr lang="en-US" sz="2650" dirty="0">
                <a:solidFill>
                  <a:srgbClr val="F3F3F2"/>
                </a:solidFill>
                <a:latin typeface="IBM Plex Sans Medium"/>
              </a:rPr>
              <a:t> </a:t>
            </a:r>
            <a:r>
              <a:rPr lang="en-US" sz="2650" dirty="0" err="1">
                <a:solidFill>
                  <a:srgbClr val="F3F3F2"/>
                </a:solidFill>
                <a:latin typeface="IBM Plex Sans Medium"/>
              </a:rPr>
              <a:t>пользователи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BE62519-2CA8-F3B5-A41C-E00AD5A7FB73}"/>
              </a:ext>
            </a:extLst>
          </p:cNvPr>
          <p:cNvSpPr/>
          <p:nvPr/>
        </p:nvSpPr>
        <p:spPr bwMode="auto">
          <a:xfrm>
            <a:off x="788772" y="5282039"/>
            <a:ext cx="10097598" cy="142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SzPct val="100000"/>
              <a:buAutoNum type="arabicPeriod"/>
              <a:defRPr/>
            </a:pPr>
            <a:r>
              <a:rPr lang="en-US" sz="1750" err="1">
                <a:solidFill>
                  <a:srgbClr val="E7E1E4"/>
                </a:solidFill>
                <a:latin typeface="Roboto"/>
              </a:rPr>
              <a:t>Соблюдена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иерархия</a:t>
            </a:r>
            <a:r>
              <a:rPr lang="en-US" sz="1750">
                <a:solidFill>
                  <a:srgbClr val="E7E1E4"/>
                </a:solidFill>
                <a:latin typeface="Roboto"/>
              </a:rPr>
              <a:t>: Заголовок и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подзаголовок</a:t>
            </a:r>
            <a:r>
              <a:rPr lang="en-US" sz="1750">
                <a:solidFill>
                  <a:srgbClr val="E7E1E4"/>
                </a:solidFill>
                <a:latin typeface="Roboto"/>
              </a:rPr>
              <a:t> в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вашем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стиле</a:t>
            </a:r>
            <a:r>
              <a:rPr lang="en-US" sz="1750">
                <a:solidFill>
                  <a:srgbClr val="E7E1E4"/>
                </a:solidFill>
                <a:latin typeface="Roboto"/>
              </a:rPr>
              <a:t>.</a:t>
            </a:r>
            <a:endParaRPr lang="ru-RU" sz="1750">
              <a:solidFill>
                <a:srgbClr val="E7E1E4"/>
              </a:solidFill>
              <a:latin typeface="Roboto"/>
            </a:endParaRPr>
          </a:p>
          <a:p>
            <a:pPr marL="342900" indent="-342900">
              <a:buAutoNum type="arabicPeriod"/>
              <a:defRPr/>
            </a:pPr>
            <a:r>
              <a:rPr lang="en-US" sz="1750" err="1">
                <a:solidFill>
                  <a:srgbClr val="E7E1E4"/>
                </a:solidFill>
                <a:latin typeface="Roboto"/>
              </a:rPr>
              <a:t>Акцент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на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пользу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: 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Сразу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понятно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,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какую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задачу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решает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инструмент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для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каждой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группы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.</a:t>
            </a:r>
          </a:p>
          <a:p>
            <a:pPr marL="342900" indent="-342900">
              <a:buAutoNum type="arabicPeriod"/>
              <a:defRPr/>
            </a:pPr>
            <a:r>
              <a:rPr lang="en-US" sz="1750" err="1">
                <a:solidFill>
                  <a:srgbClr val="E7E1E4"/>
                </a:solidFill>
                <a:latin typeface="Roboto"/>
              </a:rPr>
              <a:t>Визуальная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чистота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: 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Минимум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текста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,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максимум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смысла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—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как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раз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для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копирования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структуры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вашего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первого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 </a:t>
            </a:r>
            <a:r>
              <a:rPr lang="en-US" sz="1750" err="1">
                <a:solidFill>
                  <a:srgbClr val="E7E1E4"/>
                </a:solidFill>
                <a:latin typeface="Roboto"/>
              </a:rPr>
              <a:t>слайда</a:t>
            </a:r>
            <a:r>
              <a:rPr lang="en-US" sz="1750" dirty="0">
                <a:solidFill>
                  <a:srgbClr val="E7E1E4"/>
                </a:solidFill>
                <a:latin typeface="Roboto"/>
              </a:rPr>
              <a:t>.</a:t>
            </a:r>
          </a:p>
          <a:p>
            <a:pPr marL="342900" indent="-342900">
              <a:buSzPct val="100000"/>
              <a:buAutoNum type="arabicPeriod"/>
              <a:defRPr/>
            </a:pPr>
            <a:endParaRPr lang="en-US" sz="1750" dirty="0">
              <a:solidFill>
                <a:srgbClr val="E7E1E4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16156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20937" name="Text 0"/>
          <p:cNvSpPr/>
          <p:nvPr/>
        </p:nvSpPr>
        <p:spPr bwMode="auto">
          <a:xfrm>
            <a:off x="793790" y="1189434"/>
            <a:ext cx="60355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Технологический стек</a:t>
            </a:r>
            <a:endParaRPr lang="en-US" sz="4450"/>
          </a:p>
        </p:txBody>
      </p:sp>
      <p:sp>
        <p:nvSpPr>
          <p:cNvPr id="210562421" name="Shape 1"/>
          <p:cNvSpPr/>
          <p:nvPr/>
        </p:nvSpPr>
        <p:spPr bwMode="auto">
          <a:xfrm>
            <a:off x="793790" y="2692003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92C32"/>
          </a:solidFill>
          <a:ln/>
        </p:spPr>
      </p:sp>
      <p:sp>
        <p:nvSpPr>
          <p:cNvPr id="659272408" name="Shape 2"/>
          <p:cNvSpPr/>
          <p:nvPr/>
        </p:nvSpPr>
        <p:spPr bwMode="auto">
          <a:xfrm>
            <a:off x="793790" y="266152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328940922" name="Shape 3"/>
          <p:cNvSpPr/>
          <p:nvPr/>
        </p:nvSpPr>
        <p:spPr bwMode="auto">
          <a:xfrm>
            <a:off x="2551687" y="2351842"/>
            <a:ext cx="680441" cy="680441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</p:sp>
      <p:sp>
        <p:nvSpPr>
          <p:cNvPr id="1665570445" name="Text 4"/>
          <p:cNvSpPr/>
          <p:nvPr/>
        </p:nvSpPr>
        <p:spPr bwMode="auto">
          <a:xfrm>
            <a:off x="2755761" y="24863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algn="ctr">
              <a:lnSpc>
                <a:spcPts val="3400"/>
              </a:lnSpc>
              <a:buNone/>
              <a:defRPr/>
            </a:pPr>
            <a:r>
              <a:rPr lang="en-US" sz="2100" dirty="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</a:rPr>
              <a:t>1</a:t>
            </a:r>
            <a:endParaRPr lang="en-US" sz="2100" dirty="0"/>
          </a:p>
        </p:txBody>
      </p:sp>
      <p:sp>
        <p:nvSpPr>
          <p:cNvPr id="1162462955" name="Text 5"/>
          <p:cNvSpPr/>
          <p:nvPr/>
        </p:nvSpPr>
        <p:spPr bwMode="auto">
          <a:xfrm>
            <a:off x="1051084" y="3258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HTML5 Canvas</a:t>
            </a:r>
            <a:endParaRPr lang="en-US" sz="2200"/>
          </a:p>
        </p:txBody>
      </p:sp>
      <p:sp>
        <p:nvSpPr>
          <p:cNvPr id="225573947" name="Text 6"/>
          <p:cNvSpPr/>
          <p:nvPr/>
        </p:nvSpPr>
        <p:spPr bwMode="auto">
          <a:xfrm>
            <a:off x="1051084" y="374939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Семантическая структура документа с минимальной разметкой для максимальной производительности</a:t>
            </a:r>
            <a:endParaRPr lang="en-US" sz="1750"/>
          </a:p>
        </p:txBody>
      </p:sp>
      <p:sp>
        <p:nvSpPr>
          <p:cNvPr id="1159908536" name="Shape 7"/>
          <p:cNvSpPr/>
          <p:nvPr/>
        </p:nvSpPr>
        <p:spPr bwMode="auto">
          <a:xfrm>
            <a:off x="5216962" y="2692003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92C32"/>
          </a:solidFill>
          <a:ln/>
        </p:spPr>
      </p:sp>
      <p:sp>
        <p:nvSpPr>
          <p:cNvPr id="1176301596" name="Shape 8"/>
          <p:cNvSpPr/>
          <p:nvPr/>
        </p:nvSpPr>
        <p:spPr bwMode="auto">
          <a:xfrm>
            <a:off x="5216962" y="266152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967713792" name="Shape 9"/>
          <p:cNvSpPr/>
          <p:nvPr/>
        </p:nvSpPr>
        <p:spPr bwMode="auto">
          <a:xfrm>
            <a:off x="6974860" y="2351842"/>
            <a:ext cx="680441" cy="680441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</p:sp>
      <p:sp>
        <p:nvSpPr>
          <p:cNvPr id="1257957939" name="Text 10"/>
          <p:cNvSpPr/>
          <p:nvPr/>
        </p:nvSpPr>
        <p:spPr bwMode="auto">
          <a:xfrm>
            <a:off x="7190808" y="24863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  <a:defRPr/>
            </a:pPr>
            <a:r>
              <a:rPr lang="en-US" sz="21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</a:rPr>
              <a:t>2</a:t>
            </a:r>
            <a:endParaRPr lang="en-US" sz="2100"/>
          </a:p>
        </p:txBody>
      </p:sp>
      <p:sp>
        <p:nvSpPr>
          <p:cNvPr id="416079055" name="Text 11"/>
          <p:cNvSpPr/>
          <p:nvPr/>
        </p:nvSpPr>
        <p:spPr bwMode="auto">
          <a:xfrm>
            <a:off x="5474256" y="3258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CSS3 Grid &amp; Flexbox</a:t>
            </a:r>
            <a:endParaRPr lang="en-US" sz="2200"/>
          </a:p>
        </p:txBody>
      </p:sp>
      <p:sp>
        <p:nvSpPr>
          <p:cNvPr id="1124993461" name="Text 12"/>
          <p:cNvSpPr/>
          <p:nvPr/>
        </p:nvSpPr>
        <p:spPr bwMode="auto">
          <a:xfrm>
            <a:off x="5474256" y="374939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Адаптивная сетка рисования с точным позиционированием каждого пикселя через современные layout-системы</a:t>
            </a:r>
            <a:endParaRPr lang="en-US" sz="1750"/>
          </a:p>
        </p:txBody>
      </p:sp>
      <p:sp>
        <p:nvSpPr>
          <p:cNvPr id="364680049" name="Shape 13"/>
          <p:cNvSpPr/>
          <p:nvPr/>
        </p:nvSpPr>
        <p:spPr bwMode="auto">
          <a:xfrm>
            <a:off x="9640133" y="2692003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92C32"/>
          </a:solidFill>
          <a:ln/>
        </p:spPr>
      </p:sp>
      <p:sp>
        <p:nvSpPr>
          <p:cNvPr id="18947632" name="Shape 14"/>
          <p:cNvSpPr/>
          <p:nvPr/>
        </p:nvSpPr>
        <p:spPr bwMode="auto">
          <a:xfrm>
            <a:off x="9640133" y="2661523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992806736" name="Shape 15"/>
          <p:cNvSpPr/>
          <p:nvPr/>
        </p:nvSpPr>
        <p:spPr bwMode="auto">
          <a:xfrm>
            <a:off x="11398032" y="2351842"/>
            <a:ext cx="680441" cy="680441"/>
          </a:xfrm>
          <a:prstGeom prst="roundRect">
            <a:avLst>
              <a:gd name="adj" fmla="val 134383"/>
            </a:avLst>
          </a:prstGeom>
          <a:solidFill>
            <a:srgbClr val="FFBC8F"/>
          </a:solidFill>
          <a:ln/>
        </p:spPr>
      </p:sp>
      <p:sp>
        <p:nvSpPr>
          <p:cNvPr id="1593024989" name="Text 16"/>
          <p:cNvSpPr/>
          <p:nvPr/>
        </p:nvSpPr>
        <p:spPr bwMode="auto">
          <a:xfrm>
            <a:off x="11602105" y="24863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  <a:defRPr/>
            </a:pPr>
            <a:r>
              <a:rPr lang="en-US" sz="21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</a:rPr>
              <a:t>3</a:t>
            </a:r>
            <a:endParaRPr lang="en-US" sz="2100"/>
          </a:p>
        </p:txBody>
      </p:sp>
      <p:sp>
        <p:nvSpPr>
          <p:cNvPr id="1491200892" name="Text 17"/>
          <p:cNvSpPr/>
          <p:nvPr/>
        </p:nvSpPr>
        <p:spPr bwMode="auto">
          <a:xfrm>
            <a:off x="9897427" y="3258979"/>
            <a:ext cx="30587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Vanilla JavaScript ES6+</a:t>
            </a:r>
            <a:endParaRPr lang="en-US" sz="2200"/>
          </a:p>
        </p:txBody>
      </p:sp>
      <p:sp>
        <p:nvSpPr>
          <p:cNvPr id="1167817558" name="Text 18"/>
          <p:cNvSpPr/>
          <p:nvPr/>
        </p:nvSpPr>
        <p:spPr bwMode="auto">
          <a:xfrm>
            <a:off x="9897427" y="374939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Чистый код без зависимостей: стрелочные функции, деструктуризация, модули и событийная модель</a:t>
            </a:r>
            <a:endParaRPr lang="en-US" sz="1750"/>
          </a:p>
        </p:txBody>
      </p:sp>
      <p:sp>
        <p:nvSpPr>
          <p:cNvPr id="1141927698" name="Shape 19"/>
          <p:cNvSpPr/>
          <p:nvPr/>
        </p:nvSpPr>
        <p:spPr bwMode="auto">
          <a:xfrm>
            <a:off x="793790" y="5713452"/>
            <a:ext cx="13042821" cy="1326712"/>
          </a:xfrm>
          <a:prstGeom prst="roundRect">
            <a:avLst>
              <a:gd name="adj" fmla="val 2565"/>
            </a:avLst>
          </a:prstGeom>
          <a:solidFill>
            <a:srgbClr val="4D1F00"/>
          </a:solidFill>
          <a:ln/>
        </p:spPr>
      </p:sp>
      <p:pic>
        <p:nvPicPr>
          <p:cNvPr id="127818061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0604" y="6057543"/>
            <a:ext cx="283488" cy="226814"/>
          </a:xfrm>
          <a:prstGeom prst="rect">
            <a:avLst/>
          </a:prstGeom>
        </p:spPr>
      </p:pic>
      <p:sp>
        <p:nvSpPr>
          <p:cNvPr id="344502592" name="Text 20"/>
          <p:cNvSpPr/>
          <p:nvPr/>
        </p:nvSpPr>
        <p:spPr bwMode="auto">
          <a:xfrm>
            <a:off x="1530906" y="5996940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Zero Dependencies</a:t>
            </a:r>
            <a:r>
              <a:rPr lang="en-US" sz="175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— проект работает без внешних библиотек, обеспечивая скорость и полный контроль над кодом</a:t>
            </a:r>
            <a:endParaRPr lang="en-US" sz="1750"/>
          </a:p>
        </p:txBody>
      </p:sp>
      <p:pic>
        <p:nvPicPr>
          <p:cNvPr id="1956995084" name="Рисунок 195699508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382499" y="7540624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767709" name="Text 0"/>
          <p:cNvSpPr/>
          <p:nvPr/>
        </p:nvSpPr>
        <p:spPr bwMode="auto">
          <a:xfrm>
            <a:off x="1176338" y="533757"/>
            <a:ext cx="7130772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  <a:defRPr/>
            </a:pPr>
            <a:r>
              <a:rPr lang="en-US" sz="38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Алгоритм генерации CSS-кода</a:t>
            </a:r>
            <a:endParaRPr lang="en-US" sz="3800"/>
          </a:p>
        </p:txBody>
      </p:sp>
      <p:pic>
        <p:nvPicPr>
          <p:cNvPr id="51205042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76338" y="1528524"/>
            <a:ext cx="4092535" cy="776407"/>
          </a:xfrm>
          <a:prstGeom prst="rect">
            <a:avLst/>
          </a:prstGeom>
        </p:spPr>
      </p:pic>
      <p:sp>
        <p:nvSpPr>
          <p:cNvPr id="1707036347" name="Text 1"/>
          <p:cNvSpPr/>
          <p:nvPr/>
        </p:nvSpPr>
        <p:spPr bwMode="auto">
          <a:xfrm>
            <a:off x="1370409" y="2499002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9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Сетка 16×16</a:t>
            </a:r>
            <a:endParaRPr lang="en-US" sz="1900"/>
          </a:p>
        </p:txBody>
      </p:sp>
      <p:sp>
        <p:nvSpPr>
          <p:cNvPr id="1804248948" name="Text 2"/>
          <p:cNvSpPr/>
          <p:nvPr/>
        </p:nvSpPr>
        <p:spPr bwMode="auto">
          <a:xfrm>
            <a:off x="1370409" y="2918698"/>
            <a:ext cx="3704392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Двумерный массив хранит состояние каждой ячейки и её цвет</a:t>
            </a:r>
            <a:endParaRPr lang="en-US" sz="1500"/>
          </a:p>
        </p:txBody>
      </p:sp>
      <p:pic>
        <p:nvPicPr>
          <p:cNvPr id="204994793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268873" y="1528524"/>
            <a:ext cx="4092535" cy="776407"/>
          </a:xfrm>
          <a:prstGeom prst="rect">
            <a:avLst/>
          </a:prstGeom>
        </p:spPr>
      </p:pic>
      <p:sp>
        <p:nvSpPr>
          <p:cNvPr id="686858161" name="Text 3"/>
          <p:cNvSpPr/>
          <p:nvPr/>
        </p:nvSpPr>
        <p:spPr bwMode="auto">
          <a:xfrm>
            <a:off x="5462945" y="2499002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9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Расчет координат</a:t>
            </a:r>
            <a:endParaRPr lang="en-US" sz="1900"/>
          </a:p>
        </p:txBody>
      </p:sp>
      <p:sp>
        <p:nvSpPr>
          <p:cNvPr id="278305011" name="Text 4"/>
          <p:cNvSpPr/>
          <p:nvPr/>
        </p:nvSpPr>
        <p:spPr bwMode="auto">
          <a:xfrm>
            <a:off x="5462945" y="2918698"/>
            <a:ext cx="3704392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Математическое вычисление позиций X и Y для каждого закрашенного пикселя</a:t>
            </a:r>
            <a:endParaRPr lang="en-US" sz="1500"/>
          </a:p>
        </p:txBody>
      </p:sp>
      <p:pic>
        <p:nvPicPr>
          <p:cNvPr id="34144702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361407" y="1528524"/>
            <a:ext cx="4092535" cy="776407"/>
          </a:xfrm>
          <a:prstGeom prst="rect">
            <a:avLst/>
          </a:prstGeom>
        </p:spPr>
      </p:pic>
      <p:sp>
        <p:nvSpPr>
          <p:cNvPr id="181860928" name="Text 5"/>
          <p:cNvSpPr/>
          <p:nvPr/>
        </p:nvSpPr>
        <p:spPr bwMode="auto">
          <a:xfrm>
            <a:off x="9555480" y="2499002"/>
            <a:ext cx="2634139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9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Генерация box-shadow</a:t>
            </a:r>
            <a:endParaRPr lang="en-US" sz="1900"/>
          </a:p>
        </p:txBody>
      </p:sp>
      <p:sp>
        <p:nvSpPr>
          <p:cNvPr id="1886777404" name="Text 6"/>
          <p:cNvSpPr/>
          <p:nvPr/>
        </p:nvSpPr>
        <p:spPr bwMode="auto">
          <a:xfrm>
            <a:off x="9555480" y="2918698"/>
            <a:ext cx="3704392" cy="931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Формирование CSS-строки с множественными тенями для всех активных точек</a:t>
            </a:r>
            <a:endParaRPr lang="en-US" sz="1500"/>
          </a:p>
        </p:txBody>
      </p:sp>
      <p:sp>
        <p:nvSpPr>
          <p:cNvPr id="1398691784" name="Shape 7"/>
          <p:cNvSpPr/>
          <p:nvPr/>
        </p:nvSpPr>
        <p:spPr bwMode="auto">
          <a:xfrm>
            <a:off x="1176338" y="4359663"/>
            <a:ext cx="12277725" cy="31790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</p:sp>
      <p:sp>
        <p:nvSpPr>
          <p:cNvPr id="1384168288" name="Text 8"/>
          <p:cNvSpPr/>
          <p:nvPr/>
        </p:nvSpPr>
        <p:spPr bwMode="auto">
          <a:xfrm>
            <a:off x="1176338" y="4803815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9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Входные данные</a:t>
            </a:r>
            <a:endParaRPr lang="en-US" sz="1900"/>
          </a:p>
        </p:txBody>
      </p:sp>
      <p:sp>
        <p:nvSpPr>
          <p:cNvPr id="1128202043" name="Shape 9"/>
          <p:cNvSpPr/>
          <p:nvPr/>
        </p:nvSpPr>
        <p:spPr bwMode="auto">
          <a:xfrm>
            <a:off x="1176338" y="5325428"/>
            <a:ext cx="5902047" cy="1843564"/>
          </a:xfrm>
          <a:prstGeom prst="roundRect">
            <a:avLst>
              <a:gd name="adj" fmla="val 1579"/>
            </a:avLst>
          </a:prstGeom>
          <a:solidFill>
            <a:srgbClr val="36393F"/>
          </a:solidFill>
          <a:ln/>
        </p:spPr>
      </p:sp>
      <p:sp>
        <p:nvSpPr>
          <p:cNvPr id="78883683" name="Shape 10"/>
          <p:cNvSpPr/>
          <p:nvPr/>
        </p:nvSpPr>
        <p:spPr bwMode="auto">
          <a:xfrm>
            <a:off x="1166693" y="5325428"/>
            <a:ext cx="5921335" cy="1843564"/>
          </a:xfrm>
          <a:prstGeom prst="roundRect">
            <a:avLst>
              <a:gd name="adj" fmla="val 1579"/>
            </a:avLst>
          </a:prstGeom>
          <a:solidFill>
            <a:srgbClr val="36393F"/>
          </a:solidFill>
          <a:ln/>
        </p:spPr>
      </p:sp>
      <p:sp>
        <p:nvSpPr>
          <p:cNvPr id="368100112" name="Text 11"/>
          <p:cNvSpPr/>
          <p:nvPr/>
        </p:nvSpPr>
        <p:spPr bwMode="auto">
          <a:xfrm>
            <a:off x="1360765" y="5470922"/>
            <a:ext cx="5533192" cy="1552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grid = [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 [0,1,0],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 [1,1,1],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 [0,1,0]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]</a:t>
            </a:r>
            <a:endParaRPr lang="en-US" sz="1500"/>
          </a:p>
        </p:txBody>
      </p:sp>
      <p:sp>
        <p:nvSpPr>
          <p:cNvPr id="504190404" name="Text 12"/>
          <p:cNvSpPr/>
          <p:nvPr/>
        </p:nvSpPr>
        <p:spPr bwMode="auto">
          <a:xfrm>
            <a:off x="7559635" y="4803815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  <a:defRPr/>
            </a:pPr>
            <a:r>
              <a:rPr lang="en-US" sz="19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Результат</a:t>
            </a:r>
            <a:endParaRPr lang="en-US" sz="1900"/>
          </a:p>
        </p:txBody>
      </p:sp>
      <p:sp>
        <p:nvSpPr>
          <p:cNvPr id="1109652532" name="Shape 13"/>
          <p:cNvSpPr/>
          <p:nvPr/>
        </p:nvSpPr>
        <p:spPr bwMode="auto">
          <a:xfrm>
            <a:off x="7559635" y="5325428"/>
            <a:ext cx="5902047" cy="2154079"/>
          </a:xfrm>
          <a:prstGeom prst="roundRect">
            <a:avLst>
              <a:gd name="adj" fmla="val 1352"/>
            </a:avLst>
          </a:prstGeom>
          <a:solidFill>
            <a:srgbClr val="36393F"/>
          </a:solidFill>
          <a:ln/>
        </p:spPr>
      </p:sp>
      <p:sp>
        <p:nvSpPr>
          <p:cNvPr id="449348038" name="Shape 14"/>
          <p:cNvSpPr/>
          <p:nvPr/>
        </p:nvSpPr>
        <p:spPr bwMode="auto">
          <a:xfrm>
            <a:off x="7549991" y="5325428"/>
            <a:ext cx="5921335" cy="2154079"/>
          </a:xfrm>
          <a:prstGeom prst="roundRect">
            <a:avLst>
              <a:gd name="adj" fmla="val 1352"/>
            </a:avLst>
          </a:prstGeom>
          <a:solidFill>
            <a:srgbClr val="36393F"/>
          </a:solidFill>
          <a:ln/>
        </p:spPr>
      </p:sp>
      <p:sp>
        <p:nvSpPr>
          <p:cNvPr id="1129671365" name="Text 15"/>
          <p:cNvSpPr/>
          <p:nvPr/>
        </p:nvSpPr>
        <p:spPr bwMode="auto">
          <a:xfrm>
            <a:off x="7744063" y="5470922"/>
            <a:ext cx="5533192" cy="186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box-shadow: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10px 0px 0 5px #000,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0px 10px 0 5px #000,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10px 10px 0 5px #000,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20px 10px 0 5px #000,</a:t>
            </a:r>
            <a:endParaRPr lang="en-US" sz="1500"/>
          </a:p>
          <a:p>
            <a:pPr marL="0" indent="0" algn="l">
              <a:lnSpc>
                <a:spcPts val="2400"/>
              </a:lnSpc>
              <a:buNone/>
              <a:defRPr/>
            </a:pPr>
            <a:r>
              <a:rPr lang="en-US" sz="1500">
                <a:solidFill>
                  <a:srgbClr val="D4D4D1"/>
                </a:solidFill>
                <a:highlight>
                  <a:srgbClr val="36393F"/>
                </a:highlight>
                <a:latin typeface="Consolas"/>
                <a:ea typeface="Consolas"/>
                <a:cs typeface="Consolas"/>
              </a:rPr>
              <a:t> 10px 20px 0 5px #000;</a:t>
            </a:r>
            <a:endParaRPr lang="en-US" sz="1500"/>
          </a:p>
        </p:txBody>
      </p:sp>
      <p:pic>
        <p:nvPicPr>
          <p:cNvPr id="478222775" name="Рисунок 478222774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280446" y="7540624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722887" name="Text 0"/>
          <p:cNvSpPr/>
          <p:nvPr/>
        </p:nvSpPr>
        <p:spPr bwMode="auto">
          <a:xfrm>
            <a:off x="793790" y="1240036"/>
            <a:ext cx="8622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Функциональные возможности</a:t>
            </a:r>
            <a:endParaRPr lang="en-US" sz="4450"/>
          </a:p>
        </p:txBody>
      </p:sp>
      <p:pic>
        <p:nvPicPr>
          <p:cNvPr id="1504519607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93790" y="2402442"/>
            <a:ext cx="566976" cy="566976"/>
          </a:xfrm>
          <a:prstGeom prst="rect">
            <a:avLst/>
          </a:prstGeom>
        </p:spPr>
      </p:pic>
      <p:sp>
        <p:nvSpPr>
          <p:cNvPr id="2048962777" name="Text 1"/>
          <p:cNvSpPr/>
          <p:nvPr/>
        </p:nvSpPr>
        <p:spPr bwMode="auto"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Рисование</a:t>
            </a:r>
            <a:endParaRPr lang="en-US" sz="2200"/>
          </a:p>
        </p:txBody>
      </p:sp>
      <p:sp>
        <p:nvSpPr>
          <p:cNvPr id="919460768" name="Text 2"/>
          <p:cNvSpPr/>
          <p:nvPr/>
        </p:nvSpPr>
        <p:spPr bwMode="auto"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Интуитивное рисование левой кнопкой мыши с поддержкой drag-событий для непрерывных линий</a:t>
            </a:r>
            <a:endParaRPr lang="en-US" sz="1750"/>
          </a:p>
        </p:txBody>
      </p:sp>
      <p:pic>
        <p:nvPicPr>
          <p:cNvPr id="810842626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7456884" y="2402442"/>
            <a:ext cx="566976" cy="566976"/>
          </a:xfrm>
          <a:prstGeom prst="rect">
            <a:avLst/>
          </a:prstGeom>
        </p:spPr>
      </p:pic>
      <p:sp>
        <p:nvSpPr>
          <p:cNvPr id="1354135834" name="Text 3"/>
          <p:cNvSpPr/>
          <p:nvPr/>
        </p:nvSpPr>
        <p:spPr bwMode="auto"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Ластик</a:t>
            </a:r>
            <a:endParaRPr lang="en-US" sz="2200"/>
          </a:p>
        </p:txBody>
      </p:sp>
      <p:sp>
        <p:nvSpPr>
          <p:cNvPr id="1284813517" name="Text 4"/>
          <p:cNvSpPr/>
          <p:nvPr/>
        </p:nvSpPr>
        <p:spPr bwMode="auto"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Удаление пикселей правой кнопкой мыши с блокировкой контекстного меню для удобства работы</a:t>
            </a:r>
            <a:endParaRPr lang="en-US" sz="1750"/>
          </a:p>
        </p:txBody>
      </p:sp>
      <p:pic>
        <p:nvPicPr>
          <p:cNvPr id="133848874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174923484" name="Text 5"/>
          <p:cNvSpPr/>
          <p:nvPr/>
        </p:nvSpPr>
        <p:spPr bwMode="auto"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Выбор цвета</a:t>
            </a:r>
            <a:endParaRPr lang="en-US" sz="2200"/>
          </a:p>
        </p:txBody>
      </p:sp>
      <p:sp>
        <p:nvSpPr>
          <p:cNvPr id="579636798" name="Text 6"/>
          <p:cNvSpPr/>
          <p:nvPr/>
        </p:nvSpPr>
        <p:spPr bwMode="auto"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Встроенный Color Picker с поддержкой HEX, RGB и HSL для точного подбора оттенков</a:t>
            </a:r>
            <a:endParaRPr lang="en-US" sz="1750"/>
          </a:p>
        </p:txBody>
      </p:sp>
      <p:pic>
        <p:nvPicPr>
          <p:cNvPr id="1758615195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2096473842" name="Text 7"/>
          <p:cNvSpPr/>
          <p:nvPr/>
        </p:nvSpPr>
        <p:spPr bwMode="auto"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Live Preview</a:t>
            </a:r>
            <a:endParaRPr lang="en-US" sz="2200"/>
          </a:p>
        </p:txBody>
      </p:sp>
      <p:sp>
        <p:nvSpPr>
          <p:cNvPr id="1476828769" name="Text 8"/>
          <p:cNvSpPr/>
          <p:nvPr/>
        </p:nvSpPr>
        <p:spPr bwMode="auto"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Мгновенная генерация и превью CSS-кода в реальном времени при каждом изменении холста</a:t>
            </a:r>
            <a:endParaRPr lang="en-US" sz="1750"/>
          </a:p>
        </p:txBody>
      </p:sp>
      <p:pic>
        <p:nvPicPr>
          <p:cNvPr id="1932312234" name="Рисунок 1932312233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12393839" y="7517946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488225" name="Shape 0"/>
          <p:cNvSpPr/>
          <p:nvPr/>
        </p:nvSpPr>
        <p:spPr bwMode="auto">
          <a:xfrm>
            <a:off x="1693544" y="488752"/>
            <a:ext cx="1368266" cy="333851"/>
          </a:xfrm>
          <a:prstGeom prst="roundRect">
            <a:avLst>
              <a:gd name="adj" fmla="val 6389"/>
            </a:avLst>
          </a:prstGeom>
          <a:solidFill>
            <a:srgbClr val="4D1F00"/>
          </a:solidFill>
          <a:ln/>
        </p:spPr>
      </p:sp>
      <p:sp>
        <p:nvSpPr>
          <p:cNvPr id="203695680" name="Text 1"/>
          <p:cNvSpPr/>
          <p:nvPr/>
        </p:nvSpPr>
        <p:spPr bwMode="auto">
          <a:xfrm>
            <a:off x="1800106" y="541972"/>
            <a:ext cx="1155144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  <a:defRPr/>
            </a:pPr>
            <a:r>
              <a:rPr lang="en-US" sz="110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ДЕМОНСТРАЦИЯ</a:t>
            </a:r>
            <a:endParaRPr lang="en-US" sz="1100"/>
          </a:p>
        </p:txBody>
      </p:sp>
      <p:sp>
        <p:nvSpPr>
          <p:cNvPr id="1950599178" name="Text 2"/>
          <p:cNvSpPr/>
          <p:nvPr/>
        </p:nvSpPr>
        <p:spPr bwMode="auto">
          <a:xfrm>
            <a:off x="1693544" y="1200150"/>
            <a:ext cx="5159216" cy="555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  <a:defRPr/>
            </a:pPr>
            <a:r>
              <a:rPr lang="en-US" sz="3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Интерфейс приложения</a:t>
            </a:r>
            <a:endParaRPr lang="en-US" sz="3450"/>
          </a:p>
        </p:txBody>
      </p:sp>
      <p:pic>
        <p:nvPicPr>
          <p:cNvPr id="16778605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123396" y="1222415"/>
            <a:ext cx="4820841" cy="3450431"/>
          </a:xfrm>
          <a:prstGeom prst="rect">
            <a:avLst/>
          </a:prstGeom>
        </p:spPr>
      </p:pic>
      <p:sp>
        <p:nvSpPr>
          <p:cNvPr id="1483459230" name="Text 3"/>
          <p:cNvSpPr/>
          <p:nvPr/>
        </p:nvSpPr>
        <p:spPr bwMode="auto">
          <a:xfrm>
            <a:off x="1693544" y="5072658"/>
            <a:ext cx="177641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IBM Plex Sans Light"/>
                <a:ea typeface="IBM Plex Sans Light"/>
                <a:cs typeface="IBM Plex Sans Light"/>
              </a:rPr>
              <a:t>01</a:t>
            </a:r>
            <a:endParaRPr lang="en-US" sz="1350"/>
          </a:p>
        </p:txBody>
      </p:sp>
      <p:sp>
        <p:nvSpPr>
          <p:cNvPr id="725610951" name="Shape 4"/>
          <p:cNvSpPr/>
          <p:nvPr/>
        </p:nvSpPr>
        <p:spPr bwMode="auto">
          <a:xfrm>
            <a:off x="1693544" y="5351859"/>
            <a:ext cx="3629262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394581341" name="Text 5"/>
          <p:cNvSpPr/>
          <p:nvPr/>
        </p:nvSpPr>
        <p:spPr bwMode="auto">
          <a:xfrm>
            <a:off x="1693544" y="5486400"/>
            <a:ext cx="2230398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Рисование смайлика</a:t>
            </a:r>
            <a:endParaRPr lang="en-US" sz="1700"/>
          </a:p>
        </p:txBody>
      </p:sp>
      <p:sp>
        <p:nvSpPr>
          <p:cNvPr id="1855859971" name="Text 6"/>
          <p:cNvSpPr/>
          <p:nvPr/>
        </p:nvSpPr>
        <p:spPr bwMode="auto">
          <a:xfrm>
            <a:off x="1693544" y="5870615"/>
            <a:ext cx="3629262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Создание простого emoji на сетке 16×16 пикселей с использованием желтого цвета</a:t>
            </a:r>
            <a:endParaRPr lang="en-US" sz="1350"/>
          </a:p>
        </p:txBody>
      </p:sp>
      <p:sp>
        <p:nvSpPr>
          <p:cNvPr id="367093685" name="Text 7"/>
          <p:cNvSpPr/>
          <p:nvPr/>
        </p:nvSpPr>
        <p:spPr bwMode="auto">
          <a:xfrm>
            <a:off x="5500448" y="5072658"/>
            <a:ext cx="177641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IBM Plex Sans Light"/>
                <a:ea typeface="IBM Plex Sans Light"/>
                <a:cs typeface="IBM Plex Sans Light"/>
              </a:rPr>
              <a:t>02</a:t>
            </a:r>
            <a:endParaRPr lang="en-US" sz="1350"/>
          </a:p>
        </p:txBody>
      </p:sp>
      <p:sp>
        <p:nvSpPr>
          <p:cNvPr id="1066380968" name="Shape 8"/>
          <p:cNvSpPr/>
          <p:nvPr/>
        </p:nvSpPr>
        <p:spPr bwMode="auto">
          <a:xfrm>
            <a:off x="5500448" y="5351859"/>
            <a:ext cx="3629262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467978466" name="Text 9"/>
          <p:cNvSpPr/>
          <p:nvPr/>
        </p:nvSpPr>
        <p:spPr bwMode="auto">
          <a:xfrm>
            <a:off x="5500448" y="5486400"/>
            <a:ext cx="2221944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Генерация кода</a:t>
            </a:r>
            <a:endParaRPr lang="en-US" sz="1700"/>
          </a:p>
        </p:txBody>
      </p:sp>
      <p:sp>
        <p:nvSpPr>
          <p:cNvPr id="1014553495" name="Text 10"/>
          <p:cNvSpPr/>
          <p:nvPr/>
        </p:nvSpPr>
        <p:spPr bwMode="auto">
          <a:xfrm>
            <a:off x="5500448" y="5870615"/>
            <a:ext cx="3629262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Автоматическое формирование строки box-shadow из 12 закрашенных пикселей</a:t>
            </a:r>
            <a:endParaRPr lang="en-US" sz="1350"/>
          </a:p>
        </p:txBody>
      </p:sp>
      <p:sp>
        <p:nvSpPr>
          <p:cNvPr id="872320586" name="Text 11"/>
          <p:cNvSpPr/>
          <p:nvPr/>
        </p:nvSpPr>
        <p:spPr bwMode="auto">
          <a:xfrm>
            <a:off x="9307354" y="5072658"/>
            <a:ext cx="177641" cy="222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IBM Plex Sans Light"/>
                <a:ea typeface="IBM Plex Sans Light"/>
                <a:cs typeface="IBM Plex Sans Light"/>
              </a:rPr>
              <a:t>03</a:t>
            </a:r>
            <a:endParaRPr lang="en-US" sz="1350"/>
          </a:p>
        </p:txBody>
      </p:sp>
      <p:sp>
        <p:nvSpPr>
          <p:cNvPr id="732061204" name="Shape 12"/>
          <p:cNvSpPr/>
          <p:nvPr/>
        </p:nvSpPr>
        <p:spPr bwMode="auto">
          <a:xfrm>
            <a:off x="9307354" y="5351859"/>
            <a:ext cx="3629382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366980321" name="Text 13"/>
          <p:cNvSpPr/>
          <p:nvPr/>
        </p:nvSpPr>
        <p:spPr bwMode="auto">
          <a:xfrm>
            <a:off x="9307354" y="5486400"/>
            <a:ext cx="2317790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  <a:defRPr/>
            </a:pPr>
            <a:r>
              <a:rPr lang="en-US" sz="17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Копирование в буфер</a:t>
            </a:r>
            <a:endParaRPr lang="en-US" sz="1700"/>
          </a:p>
        </p:txBody>
      </p:sp>
      <p:sp>
        <p:nvSpPr>
          <p:cNvPr id="946305610" name="Text 14"/>
          <p:cNvSpPr/>
          <p:nvPr/>
        </p:nvSpPr>
        <p:spPr bwMode="auto">
          <a:xfrm>
            <a:off x="9307354" y="5870615"/>
            <a:ext cx="3629382" cy="56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Готовый CSS-код можно сразу использовать в любом веб-проекте</a:t>
            </a:r>
            <a:endParaRPr lang="en-US" sz="1350"/>
          </a:p>
        </p:txBody>
      </p:sp>
      <p:sp>
        <p:nvSpPr>
          <p:cNvPr id="334038980" name="Text 15"/>
          <p:cNvSpPr/>
          <p:nvPr/>
        </p:nvSpPr>
        <p:spPr bwMode="auto">
          <a:xfrm>
            <a:off x="1960126" y="7256621"/>
            <a:ext cx="109766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  <a:defRPr/>
            </a:pPr>
            <a:r>
              <a:rPr lang="en-US" sz="13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Один div-элемент заменяет 256 потенциальных HTML-тегов благодаря математике теней</a:t>
            </a:r>
            <a:endParaRPr lang="en-US" sz="1350"/>
          </a:p>
        </p:txBody>
      </p:sp>
      <p:sp>
        <p:nvSpPr>
          <p:cNvPr id="599151746" name="Shape 16"/>
          <p:cNvSpPr/>
          <p:nvPr/>
        </p:nvSpPr>
        <p:spPr bwMode="auto">
          <a:xfrm>
            <a:off x="1693544" y="7056715"/>
            <a:ext cx="22860" cy="684133"/>
          </a:xfrm>
          <a:prstGeom prst="rect">
            <a:avLst/>
          </a:prstGeom>
          <a:solidFill>
            <a:srgbClr val="FFBC8F"/>
          </a:solidFill>
          <a:ln/>
        </p:spPr>
      </p:sp>
      <p:pic>
        <p:nvPicPr>
          <p:cNvPr id="84125381" name="Рисунок 8412538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314464" y="7540941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312480" name="Shape 0"/>
          <p:cNvSpPr/>
          <p:nvPr/>
        </p:nvSpPr>
        <p:spPr bwMode="auto">
          <a:xfrm>
            <a:off x="793790" y="1445895"/>
            <a:ext cx="1152049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FFBC8F"/>
            </a:solidFill>
            <a:prstDash val="solid"/>
          </a:ln>
        </p:spPr>
      </p:sp>
      <p:sp>
        <p:nvSpPr>
          <p:cNvPr id="1255541461" name="Text 1"/>
          <p:cNvSpPr/>
          <p:nvPr/>
        </p:nvSpPr>
        <p:spPr bwMode="auto">
          <a:xfrm>
            <a:off x="937498" y="1521500"/>
            <a:ext cx="8646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  <a:defRPr/>
            </a:pPr>
            <a:r>
              <a:rPr lang="en-US" sz="1400">
                <a:solidFill>
                  <a:srgbClr val="FFBC8F"/>
                </a:solidFill>
                <a:latin typeface="Roboto"/>
                <a:ea typeface="Roboto"/>
                <a:cs typeface="Roboto"/>
              </a:rPr>
              <a:t>ROADMAP</a:t>
            </a:r>
            <a:endParaRPr lang="en-US" sz="1400"/>
          </a:p>
        </p:txBody>
      </p:sp>
      <p:sp>
        <p:nvSpPr>
          <p:cNvPr id="722931004" name="Text 2"/>
          <p:cNvSpPr/>
          <p:nvPr/>
        </p:nvSpPr>
        <p:spPr bwMode="auto">
          <a:xfrm>
            <a:off x="793790" y="1978104"/>
            <a:ext cx="6802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Планы развития проекта</a:t>
            </a:r>
            <a:endParaRPr lang="en-US" sz="4450"/>
          </a:p>
        </p:txBody>
      </p:sp>
      <p:sp>
        <p:nvSpPr>
          <p:cNvPr id="138181191" name="Shape 3"/>
          <p:cNvSpPr/>
          <p:nvPr/>
        </p:nvSpPr>
        <p:spPr bwMode="auto">
          <a:xfrm>
            <a:off x="1133951" y="3934301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484B51"/>
          </a:solidFill>
          <a:ln/>
        </p:spPr>
      </p:sp>
      <p:sp>
        <p:nvSpPr>
          <p:cNvPr id="102757948" name="Shape 4"/>
          <p:cNvSpPr/>
          <p:nvPr/>
        </p:nvSpPr>
        <p:spPr bwMode="auto">
          <a:xfrm>
            <a:off x="793790" y="3707428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484B51"/>
          </a:solidFill>
          <a:ln/>
        </p:spPr>
      </p:sp>
      <p:pic>
        <p:nvPicPr>
          <p:cNvPr id="77162530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963930" y="3877568"/>
            <a:ext cx="340162" cy="340162"/>
          </a:xfrm>
          <a:prstGeom prst="rect">
            <a:avLst/>
          </a:prstGeom>
        </p:spPr>
      </p:pic>
      <p:sp>
        <p:nvSpPr>
          <p:cNvPr id="1633818275" name="Text 5"/>
          <p:cNvSpPr/>
          <p:nvPr/>
        </p:nvSpPr>
        <p:spPr bwMode="auto">
          <a:xfrm>
            <a:off x="1020604" y="4614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LocalStorage API</a:t>
            </a:r>
            <a:endParaRPr lang="en-US" sz="2200"/>
          </a:p>
        </p:txBody>
      </p:sp>
      <p:sp>
        <p:nvSpPr>
          <p:cNvPr id="730369214" name="Text 6"/>
          <p:cNvSpPr/>
          <p:nvPr/>
        </p:nvSpPr>
        <p:spPr bwMode="auto">
          <a:xfrm>
            <a:off x="1020604" y="510516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Сохранение работ пользователя в браузере для возможности продолжить рисование позже без потери данных</a:t>
            </a:r>
            <a:endParaRPr lang="en-US" sz="1750"/>
          </a:p>
        </p:txBody>
      </p:sp>
      <p:sp>
        <p:nvSpPr>
          <p:cNvPr id="918102026" name="Shape 7"/>
          <p:cNvSpPr/>
          <p:nvPr/>
        </p:nvSpPr>
        <p:spPr bwMode="auto">
          <a:xfrm>
            <a:off x="5557123" y="3594021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484B51"/>
          </a:solidFill>
          <a:ln/>
        </p:spPr>
      </p:sp>
      <p:sp>
        <p:nvSpPr>
          <p:cNvPr id="1134242864" name="Shape 8"/>
          <p:cNvSpPr/>
          <p:nvPr/>
        </p:nvSpPr>
        <p:spPr bwMode="auto">
          <a:xfrm>
            <a:off x="5216962" y="3367147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484B51"/>
          </a:solidFill>
          <a:ln/>
        </p:spPr>
      </p:sp>
      <p:pic>
        <p:nvPicPr>
          <p:cNvPr id="697474661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5387102" y="3537287"/>
            <a:ext cx="340162" cy="340162"/>
          </a:xfrm>
          <a:prstGeom prst="rect">
            <a:avLst/>
          </a:prstGeom>
        </p:spPr>
      </p:pic>
      <p:sp>
        <p:nvSpPr>
          <p:cNvPr id="2104012764" name="Text 9"/>
          <p:cNvSpPr/>
          <p:nvPr/>
        </p:nvSpPr>
        <p:spPr bwMode="auto">
          <a:xfrm>
            <a:off x="5443776" y="4274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CSS Animations</a:t>
            </a:r>
            <a:endParaRPr lang="en-US" sz="2200"/>
          </a:p>
        </p:txBody>
      </p:sp>
      <p:sp>
        <p:nvSpPr>
          <p:cNvPr id="615366454" name="Text 10"/>
          <p:cNvSpPr/>
          <p:nvPr/>
        </p:nvSpPr>
        <p:spPr bwMode="auto">
          <a:xfrm>
            <a:off x="5443776" y="476488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Генерация @keyframes для создания анимированных спрайтов с покадровой сменой box-shadow</a:t>
            </a:r>
            <a:endParaRPr lang="en-US" sz="1750"/>
          </a:p>
        </p:txBody>
      </p:sp>
      <p:sp>
        <p:nvSpPr>
          <p:cNvPr id="1730386070" name="Shape 11"/>
          <p:cNvSpPr/>
          <p:nvPr/>
        </p:nvSpPr>
        <p:spPr bwMode="auto">
          <a:xfrm>
            <a:off x="9980295" y="3253859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484B51"/>
          </a:solidFill>
          <a:ln/>
        </p:spPr>
      </p:sp>
      <p:sp>
        <p:nvSpPr>
          <p:cNvPr id="1692837634" name="Shape 12"/>
          <p:cNvSpPr/>
          <p:nvPr/>
        </p:nvSpPr>
        <p:spPr bwMode="auto">
          <a:xfrm>
            <a:off x="9640133" y="3026985"/>
            <a:ext cx="680441" cy="680441"/>
          </a:xfrm>
          <a:prstGeom prst="roundRect">
            <a:avLst>
              <a:gd name="adj" fmla="val 67192"/>
            </a:avLst>
          </a:prstGeom>
          <a:solidFill>
            <a:srgbClr val="484B51"/>
          </a:solidFill>
          <a:ln/>
        </p:spPr>
      </p:sp>
      <p:pic>
        <p:nvPicPr>
          <p:cNvPr id="552554926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9810274" y="3197126"/>
            <a:ext cx="340162" cy="340162"/>
          </a:xfrm>
          <a:prstGeom prst="rect">
            <a:avLst/>
          </a:prstGeom>
        </p:spPr>
      </p:pic>
      <p:sp>
        <p:nvSpPr>
          <p:cNvPr id="694439995" name="Text 13"/>
          <p:cNvSpPr/>
          <p:nvPr/>
        </p:nvSpPr>
        <p:spPr bwMode="auto">
          <a:xfrm>
            <a:off x="9866948" y="3934301"/>
            <a:ext cx="3654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  <a:defRPr/>
            </a:pPr>
            <a:r>
              <a:rPr lang="en-US" sz="220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</a:rPr>
              <a:t>Переменный размер сетки</a:t>
            </a:r>
            <a:endParaRPr lang="en-US" sz="2200"/>
          </a:p>
        </p:txBody>
      </p:sp>
      <p:sp>
        <p:nvSpPr>
          <p:cNvPr id="1289289465" name="Text 14"/>
          <p:cNvSpPr/>
          <p:nvPr/>
        </p:nvSpPr>
        <p:spPr bwMode="auto">
          <a:xfrm>
            <a:off x="9866948" y="442472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Поддержка холстов 8×8, 32×32, 64×64 для более детальных или оптимизированных изображений</a:t>
            </a:r>
            <a:endParaRPr lang="en-US" sz="1750"/>
          </a:p>
        </p:txBody>
      </p:sp>
      <p:pic>
        <p:nvPicPr>
          <p:cNvPr id="729006083" name="Рисунок 729006082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12325803" y="7551964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163748" name="Text 0"/>
          <p:cNvSpPr/>
          <p:nvPr/>
        </p:nvSpPr>
        <p:spPr bwMode="auto">
          <a:xfrm>
            <a:off x="793790" y="1692831"/>
            <a:ext cx="84610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  <a:defRPr/>
            </a:pPr>
            <a:r>
              <a:rPr lang="en-US" sz="44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Pixels — CSS без компромиссов</a:t>
            </a:r>
            <a:endParaRPr lang="en-US" sz="4450"/>
          </a:p>
        </p:txBody>
      </p:sp>
      <p:sp>
        <p:nvSpPr>
          <p:cNvPr id="1650311294" name="Text 1"/>
          <p:cNvSpPr/>
          <p:nvPr/>
        </p:nvSpPr>
        <p:spPr bwMode="auto">
          <a:xfrm>
            <a:off x="793790" y="2968585"/>
            <a:ext cx="41983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  <a:defRPr/>
            </a:pPr>
            <a:r>
              <a:rPr lang="en-US" sz="265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Ключевые преимущества</a:t>
            </a:r>
            <a:endParaRPr lang="en-US" sz="2650"/>
          </a:p>
        </p:txBody>
      </p:sp>
      <p:sp>
        <p:nvSpPr>
          <p:cNvPr id="1654479021" name="Text 2"/>
          <p:cNvSpPr/>
          <p:nvPr/>
        </p:nvSpPr>
        <p:spPr bwMode="auto">
          <a:xfrm>
            <a:off x="793790" y="3620691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Векторная четкость на любых экранах</a:t>
            </a:r>
            <a:endParaRPr lang="en-US" sz="1750"/>
          </a:p>
        </p:txBody>
      </p:sp>
      <p:sp>
        <p:nvSpPr>
          <p:cNvPr id="717026560" name="Text 3"/>
          <p:cNvSpPr/>
          <p:nvPr/>
        </p:nvSpPr>
        <p:spPr bwMode="auto">
          <a:xfrm>
            <a:off x="793790" y="4062889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Нулевая задержка загрузки</a:t>
            </a:r>
            <a:endParaRPr lang="en-US" sz="1750"/>
          </a:p>
        </p:txBody>
      </p:sp>
      <p:sp>
        <p:nvSpPr>
          <p:cNvPr id="1848289755" name="Text 4"/>
          <p:cNvSpPr/>
          <p:nvPr/>
        </p:nvSpPr>
        <p:spPr bwMode="auto">
          <a:xfrm>
            <a:off x="793790" y="4505087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Чистый JavaScript без библиотек</a:t>
            </a:r>
            <a:endParaRPr lang="en-US" sz="1750"/>
          </a:p>
        </p:txBody>
      </p:sp>
      <p:sp>
        <p:nvSpPr>
          <p:cNvPr id="1298308717" name="Text 5"/>
          <p:cNvSpPr/>
          <p:nvPr/>
        </p:nvSpPr>
        <p:spPr bwMode="auto">
          <a:xfrm>
            <a:off x="793790" y="4947285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  <a:defRPr/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Полный контроль через код</a:t>
            </a:r>
            <a:endParaRPr lang="en-US" sz="1750"/>
          </a:p>
        </p:txBody>
      </p:sp>
      <p:sp>
        <p:nvSpPr>
          <p:cNvPr id="693835616" name="Shape 8"/>
          <p:cNvSpPr/>
          <p:nvPr/>
        </p:nvSpPr>
        <p:spPr bwMode="auto">
          <a:xfrm>
            <a:off x="8279249" y="2996922"/>
            <a:ext cx="5564862" cy="2415421"/>
          </a:xfrm>
          <a:prstGeom prst="roundRect">
            <a:avLst>
              <a:gd name="adj" fmla="val 1409"/>
            </a:avLst>
          </a:prstGeom>
          <a:solidFill>
            <a:srgbClr val="4D1F00"/>
          </a:solidFill>
          <a:ln/>
        </p:spPr>
      </p:sp>
      <p:pic>
        <p:nvPicPr>
          <p:cNvPr id="165587526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06063" y="3341013"/>
            <a:ext cx="283488" cy="226814"/>
          </a:xfrm>
          <a:prstGeom prst="rect">
            <a:avLst/>
          </a:prstGeom>
        </p:spPr>
      </p:pic>
      <p:sp>
        <p:nvSpPr>
          <p:cNvPr id="1555851315" name="Text 9"/>
          <p:cNvSpPr/>
          <p:nvPr/>
        </p:nvSpPr>
        <p:spPr bwMode="auto">
          <a:xfrm>
            <a:off x="9016365" y="3280410"/>
            <a:ext cx="460093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  <a:defRPr/>
            </a:pPr>
            <a:r>
              <a:rPr lang="en-US" sz="17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Вывод:</a:t>
            </a:r>
            <a:r>
              <a:rPr lang="en-US" sz="175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CSS box-shadow превращает браузер в графический редактор, доказывая, что веб-стандарты способны решать задачи, выходящие за рамки их изначального предназначения</a:t>
            </a:r>
            <a:endParaRPr lang="en-US" sz="1750"/>
          </a:p>
        </p:txBody>
      </p:sp>
      <p:pic>
        <p:nvPicPr>
          <p:cNvPr id="2051207809" name="Рисунок 205120780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337142" y="7540624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305527" name="Text 0"/>
          <p:cNvSpPr/>
          <p:nvPr/>
        </p:nvSpPr>
        <p:spPr bwMode="auto">
          <a:xfrm>
            <a:off x="2329812" y="3387660"/>
            <a:ext cx="10180563" cy="727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49"/>
              </a:lnSpc>
              <a:buNone/>
              <a:defRPr/>
            </a:pPr>
            <a:r>
              <a:rPr lang="ru-RU" sz="720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</a:rPr>
              <a:t>Спасибо за внимание</a:t>
            </a:r>
            <a:endParaRPr sz="7200"/>
          </a:p>
        </p:txBody>
      </p:sp>
      <p:sp>
        <p:nvSpPr>
          <p:cNvPr id="2052193394" name="Text 7"/>
          <p:cNvSpPr/>
          <p:nvPr/>
        </p:nvSpPr>
        <p:spPr bwMode="auto">
          <a:xfrm>
            <a:off x="5385663" y="4245429"/>
            <a:ext cx="3856861" cy="35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49"/>
              </a:lnSpc>
              <a:buNone/>
              <a:defRPr/>
            </a:pPr>
            <a:r>
              <a:rPr lang="en-US" sz="1750" b="1">
                <a:solidFill>
                  <a:srgbClr val="D4D4D1"/>
                </a:solidFill>
                <a:latin typeface="Roboto"/>
                <a:ea typeface="Roboto"/>
                <a:cs typeface="Roboto"/>
              </a:rPr>
              <a:t>GitHub:</a:t>
            </a: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750" u="sng">
                <a:solidFill>
                  <a:schemeClr val="hlink"/>
                </a:solidFill>
                <a:latin typeface="Roboto"/>
                <a:ea typeface="Roboto"/>
                <a:cs typeface="Roboto"/>
                <a:hlinkClick r:id="rId3"/>
              </a:rPr>
              <a:t>github.com/Korsany/Pixels</a:t>
            </a:r>
            <a:endParaRPr lang="en-US" sz="1750"/>
          </a:p>
        </p:txBody>
      </p:sp>
      <p:pic>
        <p:nvPicPr>
          <p:cNvPr id="1065103749" name="Рисунок 1065103748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337141" y="7540623"/>
            <a:ext cx="2228850" cy="657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11</Slides>
  <Notes>11</Notes>
  <HiddenSlides>0</HiddenSlides>
  <MMClips>2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90</cp:revision>
  <dcterms:created xsi:type="dcterms:W3CDTF">2026-01-18T08:41:05Z</dcterms:created>
  <dcterms:modified xsi:type="dcterms:W3CDTF">2026-01-31T17:54:02Z</dcterms:modified>
</cp:coreProperties>
</file>